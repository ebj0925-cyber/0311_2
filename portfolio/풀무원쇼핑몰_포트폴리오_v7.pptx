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1" autoCompressPictures="0">
  <p:sldMasterIdLst>
    <p:sldMasterId id="2147483660" r:id="rId3"/>
  </p:sldMasterIdLst>
  <p:notesMasterIdLst>
    <p:notesMasterId r:id="rId4"/>
  </p:notesMasterIdLst>
  <p:sldIdLst>
    <p:sldId id="256" r:id="rId6"/>
    <p:sldId id="257" r:id="rId8"/>
    <p:sldId id="258" r:id="rId9"/>
    <p:sldId id="259" r:id="rId11"/>
    <p:sldId id="260" r:id="rId13"/>
    <p:sldId id="261" r:id="rId15"/>
    <p:sldId id="262" r:id="rId17"/>
    <p:sldId id="263" r:id="rId19"/>
    <p:sldId id="264" r:id="rId21"/>
    <p:sldId id="265" r:id="rId22"/>
    <p:sldId id="266" r:id="rId24"/>
    <p:sldId id="267" r:id="rId26"/>
    <p:sldId id="268" r:id="rId28"/>
    <p:sldId id="269" r:id="rId30"/>
    <p:sldId id="270" r:id="rId32"/>
    <p:sldId id="271" r:id="rId33"/>
    <p:sldId id="272" r:id="rId34"/>
    <p:sldId id="273" r:id="rId35"/>
    <p:sldId id="274" r:id="rId37"/>
    <p:sldId id="275" r:id="rId38"/>
    <p:sldId id="276" r:id="rId39"/>
    <p:sldId id="277" r:id="rId40"/>
    <p:sldId id="278" r:id="rId42"/>
    <p:sldId id="279" r:id="rId44"/>
  </p:sldIdLst>
  <p:notesMasterIdLst/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tableStyles" Target="tableStyles.xml"></Relationship><Relationship Id="rId3" Type="http://schemas.openxmlformats.org/officeDocument/2006/relationships/slideMaster" Target="slideMasters/slideMaster1.xml"></Relationship><Relationship Id="rId4" Type="http://schemas.openxmlformats.org/officeDocument/2006/relationships/notesMaster" Target="notesMasters/notesMaster1.xml"></Relationship><Relationship Id="rId5" Type="http://schemas.openxmlformats.org/officeDocument/2006/relationships/theme" Target="theme/theme2.xml"></Relationship><Relationship Id="rId6" Type="http://schemas.openxmlformats.org/officeDocument/2006/relationships/slide" Target="slides/slide1.xml"></Relationship><Relationship Id="rId8" Type="http://schemas.openxmlformats.org/officeDocument/2006/relationships/slide" Target="slides/slide2.xml"></Relationship><Relationship Id="rId9" Type="http://schemas.openxmlformats.org/officeDocument/2006/relationships/slide" Target="slides/slide3.xml"></Relationship><Relationship Id="rId11" Type="http://schemas.openxmlformats.org/officeDocument/2006/relationships/slide" Target="slides/slide4.xml"></Relationship><Relationship Id="rId13" Type="http://schemas.openxmlformats.org/officeDocument/2006/relationships/slide" Target="slides/slide5.xml"></Relationship><Relationship Id="rId15" Type="http://schemas.openxmlformats.org/officeDocument/2006/relationships/slide" Target="slides/slide6.xml"></Relationship><Relationship Id="rId17" Type="http://schemas.openxmlformats.org/officeDocument/2006/relationships/slide" Target="slides/slide7.xml"></Relationship><Relationship Id="rId19" Type="http://schemas.openxmlformats.org/officeDocument/2006/relationships/slide" Target="slides/slide8.xml"></Relationship><Relationship Id="rId21" Type="http://schemas.openxmlformats.org/officeDocument/2006/relationships/slide" Target="slides/slide9.xml"></Relationship><Relationship Id="rId22" Type="http://schemas.openxmlformats.org/officeDocument/2006/relationships/slide" Target="slides/slide10.xml"></Relationship><Relationship Id="rId24" Type="http://schemas.openxmlformats.org/officeDocument/2006/relationships/slide" Target="slides/slide11.xml"></Relationship><Relationship Id="rId26" Type="http://schemas.openxmlformats.org/officeDocument/2006/relationships/slide" Target="slides/slide12.xml"></Relationship><Relationship Id="rId28" Type="http://schemas.openxmlformats.org/officeDocument/2006/relationships/slide" Target="slides/slide13.xml"></Relationship><Relationship Id="rId30" Type="http://schemas.openxmlformats.org/officeDocument/2006/relationships/slide" Target="slides/slide14.xml"></Relationship><Relationship Id="rId32" Type="http://schemas.openxmlformats.org/officeDocument/2006/relationships/slide" Target="slides/slide15.xml"></Relationship><Relationship Id="rId33" Type="http://schemas.openxmlformats.org/officeDocument/2006/relationships/slide" Target="slides/slide16.xml"></Relationship><Relationship Id="rId34" Type="http://schemas.openxmlformats.org/officeDocument/2006/relationships/slide" Target="slides/slide17.xml"></Relationship><Relationship Id="rId35" Type="http://schemas.openxmlformats.org/officeDocument/2006/relationships/slide" Target="slides/slide18.xml"></Relationship><Relationship Id="rId37" Type="http://schemas.openxmlformats.org/officeDocument/2006/relationships/slide" Target="slides/slide19.xml"></Relationship><Relationship Id="rId38" Type="http://schemas.openxmlformats.org/officeDocument/2006/relationships/slide" Target="slides/slide20.xml"></Relationship><Relationship Id="rId39" Type="http://schemas.openxmlformats.org/officeDocument/2006/relationships/slide" Target="slides/slide21.xml"></Relationship><Relationship Id="rId40" Type="http://schemas.openxmlformats.org/officeDocument/2006/relationships/slide" Target="slides/slide22.xml"></Relationship><Relationship Id="rId42" Type="http://schemas.openxmlformats.org/officeDocument/2006/relationships/slide" Target="slides/slide23.xml"></Relationship><Relationship Id="rId44" Type="http://schemas.openxmlformats.org/officeDocument/2006/relationships/slide" Target="slides/slide24.xml"></Relationship><Relationship Id="rId54" Type="http://schemas.openxmlformats.org/officeDocument/2006/relationships/viewProps" Target="viewProps.xml"></Relationship><Relationship Id="rId55" Type="http://schemas.openxmlformats.org/officeDocument/2006/relationships/presProps" Target="presProps.xml"></Relationship></Relationships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2.xml"></Relationship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.xml"></Relationship></Relationships>
</file>

<file path=ppt/notesSlides/_rels/notesSlide2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2.xml"></Relationship></Relationships>
</file>

<file path=ppt/notesSlides/_rels/notesSlide3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3.xml"></Relationship></Relationships>
</file>

<file path=ppt/notesSlides/_rels/notesSlide4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4.xml"></Relationship></Relationships>
</file>

<file path=ppt/notesSlides/_rels/notesSlide5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5.xml"></Relationship></Relationships>
</file>

<file path=ppt/notesSlides/_rels/notesSlide6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6.xml"></Relationship></Relationships>
</file>

<file path=ppt/notesSlides/_rels/notesSlide7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7.xml"></Relationship></Relationships>
</file>

<file path=ppt/notesSlides/_rels/notesSlide8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8.xml"></Relationship></Relationships>
</file>

<file path=ppt/notesSlides/_rels/notesSlide9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9.xml"></Relationship></Relationships>
</file>

<file path=ppt/notesSlides/_rels/notesSlide10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0.xml"></Relationship></Relationships>
</file>

<file path=ppt/notesSlides/_rels/notesSlide11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1.xml"></Relationship></Relationships>
</file>

<file path=ppt/notesSlides/_rels/notesSlide12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2.xml"></Relationship></Relationships>
</file>

<file path=ppt/notesSlides/_rels/notesSlide13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3.xml"></Relationship></Relationships>
</file>

<file path=ppt/notesSlides/_rels/notesSlide14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4.xml"></Relationship></Relationships>
</file>

<file path=ppt/notesSlides/_rels/notesSlide15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5.xml"></Relationship></Relationships>
</file>

<file path=ppt/notesSlides/_rels/notesSlide16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6.xml"></Relationship></Relationships>
</file>

<file path=ppt/notesSlides/_rels/notesSlide17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7.xml"></Relationship></Relationships>
</file>

<file path=ppt/notesSlides/_rels/notesSlide18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8.xml"></Relationship></Relationships>
</file>

<file path=ppt/notesSlides/_rels/notesSlide19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9.xml"></Relationship></Relationships>
</file>

<file path=ppt/notesSlides/_rels/notesSlide20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20.xml"></Relationship></Relationships>
</file>

<file path=ppt/notesSlides/_rels/notesSlide21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21.xml"></Relationship></Relationships>
</file>

<file path=ppt/notesSlides/_rels/notesSlide22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22.xml"></Relationship></Relationships>
</file>

<file path=ppt/notesSlides/_rels/notesSlide23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23.xml"></Relationship></Relationships>
</file>

<file path=ppt/notesSlides/_rels/notesSlide24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24.xml"></Relationship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theme" Target="../theme/theme1.xml"></Relationship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
<Relationships xmlns="http://schemas.openxmlformats.org/package/2006/relationships"><Relationship Id="rId1" Type="http://schemas.openxmlformats.org/officeDocument/2006/relationships/image" Target="../media/image-1-1.jpg"></Relationship><Relationship Id="rId2" Type="http://schemas.openxmlformats.org/officeDocument/2006/relationships/slideLayout" Target="../slideLayouts/slideLayout1.xml"></Relationship><Relationship Id="rId3" Type="http://schemas.openxmlformats.org/officeDocument/2006/relationships/notesSlide" Target="../notesSlides/notesSlide1.xml"></Relationship></Relationships>
</file>

<file path=ppt/slides/_rels/slide2.xml.rels><?xml version="1.0" encoding="UTF-8"?>
<Relationships xmlns="http://schemas.openxmlformats.org/package/2006/relationships"><Relationship Id="rId1" Type="http://schemas.openxmlformats.org/officeDocument/2006/relationships/image" Target="../media/ref-1.png"></Relationship><Relationship Id="rId2" Type="http://schemas.openxmlformats.org/officeDocument/2006/relationships/image" Target="../media/ref-2.png"></Relationship><Relationship Id="rId3" Type="http://schemas.openxmlformats.org/officeDocument/2006/relationships/image" Target="../media/ref-3.png"></Relationship><Relationship Id="rId4" Type="http://schemas.openxmlformats.org/officeDocument/2006/relationships/image" Target="../media/ref-4.png"></Relationship><Relationship Id="rId7" Type="http://schemas.openxmlformats.org/officeDocument/2006/relationships/image" Target="../media/ref-5.png"></Relationship><Relationship Id="rId8" Type="http://schemas.openxmlformats.org/officeDocument/2006/relationships/image" Target="../media/ref-6.png"></Relationship><Relationship Id="rId6" Type="http://schemas.openxmlformats.org/officeDocument/2006/relationships/notesSlide" Target="../notesSlides/notesSlide2.xml"></Relationship><Relationship Id="rId9" Type="http://schemas.openxmlformats.org/officeDocument/2006/relationships/slideLayout" Target="../slideLayouts/slideLayout1.xml"></Relationship></Relationships>
</file>

<file path=ppt/slides/_rels/slide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3.xml"></Relationship></Relationships>
</file>

<file path=ppt/slides/_rels/slide4.xml.rels><?xml version="1.0" encoding="UTF-8"?>
<Relationships xmlns="http://schemas.openxmlformats.org/package/2006/relationships"><Relationship Id="rId1" Type="http://schemas.openxmlformats.org/officeDocument/2006/relationships/image" Target="../media/image-4-1.png"></Relationship><Relationship Id="rId2" Type="http://schemas.openxmlformats.org/officeDocument/2006/relationships/slideLayout" Target="../slideLayouts/slideLayout1.xml"></Relationship><Relationship Id="rId3" Type="http://schemas.openxmlformats.org/officeDocument/2006/relationships/notesSlide" Target="../notesSlides/notesSlide4.xml"></Relationship></Relationships>
</file>

<file path=ppt/slides/_rels/slide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5.xml"></Relationship></Relationships>
</file>

<file path=ppt/slides/_rels/slide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6.xml"></Relationship></Relationships>
</file>

<file path=ppt/slides/_rels/slide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7.xml"></Relationship></Relationships>
</file>

<file path=ppt/slides/_rels/slide8.xml.rels><?xml version="1.0" encoding="UTF-8"?>
<Relationships xmlns="http://schemas.openxmlformats.org/package/2006/relationships"><Relationship Id="rId3" Type="http://schemas.openxmlformats.org/officeDocument/2006/relationships/notesSlide" Target="../notesSlides/notesSlide8.xml"></Relationship><Relationship Id="rId4" Type="http://schemas.openxmlformats.org/officeDocument/2006/relationships/image" Target="../media/fImage123873532441.png"></Relationship><Relationship Id="rId5" Type="http://schemas.openxmlformats.org/officeDocument/2006/relationships/slideLayout" Target="../slideLayouts/slideLayout1.xml"></Relationship></Relationships>
</file>

<file path=ppt/slides/_rels/slide9.xml.rels><?xml version="1.0" encoding="UTF-8"?>
<Relationships xmlns="http://schemas.openxmlformats.org/package/2006/relationships"><Relationship Id="rId2" Type="http://schemas.openxmlformats.org/officeDocument/2006/relationships/notesSlide" Target="../notesSlides/notesSlide9.xml"></Relationship><Relationship Id="rId3" Type="http://schemas.openxmlformats.org/officeDocument/2006/relationships/image" Target="../media/fImage2757733941.png"></Relationship><Relationship Id="rId4" Type="http://schemas.openxmlformats.org/officeDocument/2006/relationships/slideLayout" Target="../slideLayouts/slideLayout1.xml"></Relationship></Relationships>
</file>

<file path=ppt/slides/_rels/slide10.xml.rels><?xml version="1.0" encoding="UTF-8"?>
<Relationships xmlns="http://schemas.openxmlformats.org/package/2006/relationships"><Relationship Id="rId1" Type="http://schemas.openxmlformats.org/officeDocument/2006/relationships/image" Target="../media/image-10-1.png"></Relationship><Relationship Id="rId2" Type="http://schemas.openxmlformats.org/officeDocument/2006/relationships/slideLayout" Target="../slideLayouts/slideLayout1.xml"></Relationship><Relationship Id="rId3" Type="http://schemas.openxmlformats.org/officeDocument/2006/relationships/notesSlide" Target="../notesSlides/notesSlide10.xml"></Relationship></Relationships>
</file>

<file path=ppt/slides/_rels/slide11.xml.rels><?xml version="1.0" encoding="UTF-8"?>
<Relationships xmlns="http://schemas.openxmlformats.org/package/2006/relationships"><Relationship Id="rId1" Type="http://schemas.openxmlformats.org/officeDocument/2006/relationships/image" Target="../media/image-11-1.png"></Relationship><Relationship Id="rId2" Type="http://schemas.openxmlformats.org/officeDocument/2006/relationships/slideLayout" Target="../slideLayouts/slideLayout1.xml"></Relationship><Relationship Id="rId3" Type="http://schemas.openxmlformats.org/officeDocument/2006/relationships/notesSlide" Target="../notesSlides/notesSlide11.xml"></Relationship></Relationships>
</file>

<file path=ppt/slides/_rels/slide12.xml.rels><?xml version="1.0" encoding="UTF-8"?>
<Relationships xmlns="http://schemas.openxmlformats.org/package/2006/relationships"><Relationship Id="rId1" Type="http://schemas.openxmlformats.org/officeDocument/2006/relationships/image" Target="../media/image-12-1.png"></Relationship><Relationship Id="rId2" Type="http://schemas.openxmlformats.org/officeDocument/2006/relationships/slideLayout" Target="../slideLayouts/slideLayout1.xml"></Relationship><Relationship Id="rId3" Type="http://schemas.openxmlformats.org/officeDocument/2006/relationships/notesSlide" Target="../notesSlides/notesSlide12.xml"></Relationship></Relationships>
</file>

<file path=ppt/slides/_rels/slide13.xml.rels><?xml version="1.0" encoding="UTF-8"?>
<Relationships xmlns="http://schemas.openxmlformats.org/package/2006/relationships"><Relationship Id="rId1" Type="http://schemas.openxmlformats.org/officeDocument/2006/relationships/image" Target="../media/image-13-1.png"></Relationship><Relationship Id="rId2" Type="http://schemas.openxmlformats.org/officeDocument/2006/relationships/slideLayout" Target="../slideLayouts/slideLayout1.xml"></Relationship><Relationship Id="rId3" Type="http://schemas.openxmlformats.org/officeDocument/2006/relationships/notesSlide" Target="../notesSlides/notesSlide13.xml"></Relationship></Relationships>
</file>

<file path=ppt/slides/_rels/slide14.xml.rels><?xml version="1.0" encoding="UTF-8"?>
<Relationships xmlns="http://schemas.openxmlformats.org/package/2006/relationships"><Relationship Id="rId1" Type="http://schemas.openxmlformats.org/officeDocument/2006/relationships/image" Target="../media/image-14-1.png"></Relationship><Relationship Id="rId2" Type="http://schemas.openxmlformats.org/officeDocument/2006/relationships/slideLayout" Target="../slideLayouts/slideLayout1.xml"></Relationship><Relationship Id="rId3" Type="http://schemas.openxmlformats.org/officeDocument/2006/relationships/notesSlide" Target="../notesSlides/notesSlide14.xml"></Relationship></Relationships>
</file>

<file path=ppt/slides/_rels/slide15.xml.rels><?xml version="1.0" encoding="UTF-8"?>
<Relationships xmlns="http://schemas.openxmlformats.org/package/2006/relationships"><Relationship Id="rId1" Type="http://schemas.openxmlformats.org/officeDocument/2006/relationships/image" Target="../media/image-15-1.png"></Relationship><Relationship Id="rId3" Type="http://schemas.openxmlformats.org/officeDocument/2006/relationships/notesSlide" Target="../notesSlides/notesSlide15.xml"></Relationship><Relationship Id="rId4" Type="http://schemas.openxmlformats.org/officeDocument/2006/relationships/image" Target="../media/fImage402465008467.png"></Relationship><Relationship Id="rId5" Type="http://schemas.openxmlformats.org/officeDocument/2006/relationships/image" Target="../media/fImage341447536334.png"></Relationship><Relationship Id="rId6" Type="http://schemas.openxmlformats.org/officeDocument/2006/relationships/slideLayout" Target="../slideLayouts/slideLayout1.xml"></Relationship></Relationships>
</file>

<file path=ppt/slides/_rels/slide16.xml.rels><?xml version="1.0" encoding="UTF-8"?>
<Relationships xmlns="http://schemas.openxmlformats.org/package/2006/relationships"><Relationship Id="rId2" Type="http://schemas.openxmlformats.org/officeDocument/2006/relationships/notesSlide" Target="../notesSlides/notesSlide16.xml"></Relationship><Relationship Id="rId3" Type="http://schemas.openxmlformats.org/officeDocument/2006/relationships/image" Target="../media/fImage249825286500.png"></Relationship><Relationship Id="rId4" Type="http://schemas.openxmlformats.org/officeDocument/2006/relationships/image" Target="../media/fImage71627549169.png"></Relationship><Relationship Id="rId5" Type="http://schemas.openxmlformats.org/officeDocument/2006/relationships/slideLayout" Target="../slideLayouts/slideLayout1.xml"></Relationship></Relationships>
</file>

<file path=ppt/slides/_rels/slide17.xml.rels><?xml version="1.0" encoding="UTF-8"?>
<Relationships xmlns="http://schemas.openxmlformats.org/package/2006/relationships"><Relationship Id="rId1" Type="http://schemas.openxmlformats.org/officeDocument/2006/relationships/image" Target="../media/image-17-1.png"></Relationship><Relationship Id="rId3" Type="http://schemas.openxmlformats.org/officeDocument/2006/relationships/notesSlide" Target="../notesSlides/notesSlide17.xml"></Relationship><Relationship Id="rId4" Type="http://schemas.openxmlformats.org/officeDocument/2006/relationships/image" Target="../media/fImage414525635724.png"></Relationship><Relationship Id="rId5" Type="http://schemas.openxmlformats.org/officeDocument/2006/relationships/slideLayout" Target="../slideLayouts/slideLayout1.xml"></Relationship></Relationships>
</file>

<file path=ppt/slides/_rels/slide1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18.xml"></Relationship></Relationships>
</file>

<file path=ppt/slides/_rels/slide19.xml.rels><?xml version="1.0" encoding="UTF-8"?>
<Relationships xmlns="http://schemas.openxmlformats.org/package/2006/relationships"><Relationship Id="rId2" Type="http://schemas.openxmlformats.org/officeDocument/2006/relationships/notesSlide" Target="../notesSlides/notesSlide19.xml"></Relationship><Relationship Id="rId3" Type="http://schemas.openxmlformats.org/officeDocument/2006/relationships/image" Target="../media/fImage294176151478.png"></Relationship><Relationship Id="rId4" Type="http://schemas.openxmlformats.org/officeDocument/2006/relationships/image" Target="../media/fImage457337559358.png"></Relationship><Relationship Id="rId5" Type="http://schemas.openxmlformats.org/officeDocument/2006/relationships/slideLayout" Target="../slideLayouts/slideLayout1.xml"></Relationship></Relationships>
</file>

<file path=ppt/slides/_rels/slide20.xml.rels><?xml version="1.0" encoding="UTF-8"?>
<Relationships xmlns="http://schemas.openxmlformats.org/package/2006/relationships"><Relationship Id="rId2" Type="http://schemas.openxmlformats.org/officeDocument/2006/relationships/notesSlide" Target="../notesSlides/notesSlide20.xml"></Relationship><Relationship Id="rId3" Type="http://schemas.openxmlformats.org/officeDocument/2006/relationships/image" Target="../media/fImage381026386962.png"></Relationship><Relationship Id="rId4" Type="http://schemas.openxmlformats.org/officeDocument/2006/relationships/image" Target="../media/fImage193667564464.png"></Relationship><Relationship Id="rId5" Type="http://schemas.openxmlformats.org/officeDocument/2006/relationships/image" Target="../media/fImage234647585705.png"></Relationship><Relationship Id="rId6" Type="http://schemas.openxmlformats.org/officeDocument/2006/relationships/slideLayout" Target="../slideLayouts/slideLayout1.xml"></Relationship></Relationships>
</file>

<file path=ppt/slides/_rels/slide21.xml.rels><?xml version="1.0" encoding="UTF-8"?>
<Relationships xmlns="http://schemas.openxmlformats.org/package/2006/relationships"><Relationship Id="rId2" Type="http://schemas.openxmlformats.org/officeDocument/2006/relationships/notesSlide" Target="../notesSlides/notesSlide21.xml"></Relationship><Relationship Id="rId3" Type="http://schemas.openxmlformats.org/officeDocument/2006/relationships/image" Target="../media/fImage212586618145.png"></Relationship><Relationship Id="rId4" Type="http://schemas.openxmlformats.org/officeDocument/2006/relationships/image" Target="../media/fImage205167573281.png"></Relationship><Relationship Id="rId5" Type="http://schemas.openxmlformats.org/officeDocument/2006/relationships/slideLayout" Target="../slideLayouts/slideLayout1.xml"></Relationship></Relationships>
</file>

<file path=ppt/slides/_rels/slide2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22.xml"></Relationship></Relationships>
</file>

<file path=ppt/slides/_rels/slide2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23.xml"></Relationship></Relationships>
</file>

<file path=ppt/slides/_rels/slide2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24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_imgs/cover_bann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1188720"/>
            <a:ext cx="3017520" cy="347472"/>
          </a:xfrm>
          <a:prstGeom prst="roundRect">
            <a:avLst>
              <a:gd name="adj" fmla="val 13158"/>
            </a:avLst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40080" y="11887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퍼블리싱 프로젝트  ·  2025.03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1737360"/>
            <a:ext cx="82296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5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풀무원 쇼핑몰</a:t>
            </a:r>
            <a:endParaRPr lang="en-US" sz="5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5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퍼블리싱</a:t>
            </a:r>
            <a:endParaRPr lang="en-US" sz="5800" dirty="0"/>
          </a:p>
        </p:txBody>
      </p:sp>
      <p:sp>
        <p:nvSpPr>
          <p:cNvPr id="6" name="Text 3"/>
          <p:cNvSpPr/>
          <p:nvPr/>
        </p:nvSpPr>
        <p:spPr>
          <a:xfrm>
            <a:off x="640080" y="431596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5D6A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 데이터 기반 커머스 UI 구현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4892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9A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조은정  ·  YOMNIVERSE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0" y="6291072"/>
            <a:ext cx="121615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0" y="6291072"/>
            <a:ext cx="1216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#Pulmuone  ·  HTML5  ·  CSS3  ·  JavaScript  ·  JSON  ·  GitHub Pages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01295"/>
            <a:ext cx="10515600" cy="475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713105"/>
            <a:ext cx="11612880" cy="0"/>
          </a:xfrm>
          <a:prstGeom prst="line">
            <a:avLst/>
          </a:prstGeom>
          <a:noFill/>
          <a:ln w="15240">
            <a:solidFill>
              <a:srgbClr val="DCED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92840" y="137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8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Shape 3"/>
          <p:cNvSpPr>
            <a:spLocks/>
          </p:cNvSpPr>
          <p:nvPr/>
        </p:nvSpPr>
        <p:spPr>
          <a:xfrm rot="0">
            <a:off x="274320" y="1024255"/>
            <a:ext cx="5304155" cy="5560060"/>
          </a:xfrm>
          <a:prstGeom prst="roundRect">
            <a:avLst>
              <a:gd name="adj" fmla="val 2069"/>
            </a:avLst>
          </a:prstGeom>
          <a:solidFill>
            <a:srgbClr val="E8F5E9"/>
          </a:solidFill>
          <a:ln w="12700" cap="flat" cmpd="sng">
            <a:solidFill>
              <a:srgbClr val="C8E6C9">
                <a:alpha val="100000"/>
              </a:srgbClr>
            </a:solidFill>
            <a:prstDash val="solid"/>
          </a:ln>
          <a:effectLst>
            <a:outerShdw sx="100000" sy="100000" blurRad="76200" dist="25400" dir="2700000" rotWithShape="0" algn="bl">
              <a:srgbClr val="000000">
                <a:alpha val="6666"/>
              </a:srgbClr>
            </a:outerShdw>
          </a:effectLst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46304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AF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프로젝트명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48840" y="1371600"/>
            <a:ext cx="320040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풀무원 쇼핑몰 퍼블리싱</a:t>
            </a:r>
            <a:endParaRPr lang="en-US" sz="1300" dirty="0"/>
          </a:p>
        </p:txBody>
      </p:sp>
      <p:cxnSp>
        <p:nvCxnSpPr>
          <p:cNvPr id="8" name="Shape 6"/>
          <p:cNvCxnSpPr/>
          <p:nvPr/>
        </p:nvCxnSpPr>
        <p:spPr>
          <a:xfrm rot="0">
            <a:off x="548640" y="2030095"/>
            <a:ext cx="4755515" cy="1270"/>
          </a:xfrm>
          <a:prstGeom prst="line"/>
          <a:noFill/>
          <a:ln w="7620" cap="flat" cmpd="sng">
            <a:solidFill>
              <a:srgbClr val="C8E6C9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7"/>
          <p:cNvSpPr/>
          <p:nvPr/>
        </p:nvSpPr>
        <p:spPr>
          <a:xfrm>
            <a:off x="548640" y="2176145"/>
            <a:ext cx="146304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AF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유형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48840" y="2176145"/>
            <a:ext cx="320040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퍼블리싱 프로젝트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4754880" cy="0"/>
          </a:xfrm>
          <a:prstGeom prst="line">
            <a:avLst/>
          </a:prstGeom>
          <a:noFill/>
          <a:ln w="7620">
            <a:solidFill>
              <a:srgbClr val="C8E6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980690"/>
            <a:ext cx="146304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AF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기간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48840" y="2980690"/>
            <a:ext cx="320040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2025년 3월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639185"/>
            <a:ext cx="4754880" cy="0"/>
          </a:xfrm>
          <a:prstGeom prst="line">
            <a:avLst/>
          </a:prstGeom>
          <a:noFill/>
          <a:ln w="7620">
            <a:solidFill>
              <a:srgbClr val="C8E6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785870"/>
            <a:ext cx="146304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AF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스택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48840" y="3785870"/>
            <a:ext cx="320040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HTML5 · CSS3 · JavaScript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443730"/>
            <a:ext cx="4754880" cy="0"/>
          </a:xfrm>
          <a:prstGeom prst="line">
            <a:avLst/>
          </a:prstGeom>
          <a:noFill/>
          <a:ln w="7620">
            <a:solidFill>
              <a:srgbClr val="C8E6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590415"/>
            <a:ext cx="146304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AF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148840" y="4590415"/>
            <a:ext cx="320040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 파일 기반 상품 데이터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248910"/>
            <a:ext cx="4754880" cy="0"/>
          </a:xfrm>
          <a:prstGeom prst="line">
            <a:avLst/>
          </a:prstGeom>
          <a:noFill/>
          <a:ln w="7620">
            <a:solidFill>
              <a:srgbClr val="C8E6C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5394960"/>
            <a:ext cx="146304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AF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148840" y="5394960"/>
            <a:ext cx="320040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Pages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806440" y="1024255"/>
            <a:ext cx="2994660" cy="2734310"/>
          </a:xfrm>
          <a:prstGeom prst="roundRect">
            <a:avLst>
              <a:gd name="adj" fmla="val 3344"/>
            </a:avLst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49" name="img_bg_rId1"/>
          <p:cNvSpPr/>
          <p:nvPr/>
        </p:nvSpPr>
        <p:spPr>
          <a:xfrm>
            <a:off x="5806440" y="1024255"/>
            <a:ext cx="1965960" cy="2734310"/>
          </a:xfrm>
          <a:prstGeom prst="roundRect">
            <a:avLst>
              <a:gd name="adj" fmla="val 2000"/>
            </a:avLst>
          </a:prstGeom>
          <a:solidFill>
            <a:srgbClr val="F0F0F0"/>
          </a:solidFill>
          <a:ln w="9144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4000"/>
              </a:srgbClr>
            </a:outerShdw>
          </a:effectLst>
        </p:spPr>
      </p:sp>
      <p:pic>
        <p:nvPicPr>
          <p:cNvPr id="50" name="Image_rId1" descr="C:/Users/PC/AppData/Roaming/PolarisOffice/ETemp/13372_6144144/ref-1.png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5806440" y="1024255"/>
            <a:ext cx="1966595" cy="2734945"/>
          </a:xfrm>
          <a:prstGeom prst="roundRect">
            <a:avLst>
              <a:gd name="adj" fmla="val 2000"/>
            </a:avLst>
          </a:prstGeom>
          <a:noFill/>
        </p:spPr>
      </p:pic>
      <p:sp>
        <p:nvSpPr>
          <p:cNvPr id="51" name="img_bg_rId2"/>
          <p:cNvSpPr/>
          <p:nvPr/>
        </p:nvSpPr>
        <p:spPr>
          <a:xfrm>
            <a:off x="7863840" y="1024255"/>
            <a:ext cx="1965960" cy="2734310"/>
          </a:xfrm>
          <a:prstGeom prst="roundRect">
            <a:avLst>
              <a:gd name="adj" fmla="val 2000"/>
            </a:avLst>
          </a:prstGeom>
          <a:solidFill>
            <a:srgbClr val="F0F0F0"/>
          </a:solidFill>
          <a:ln w="9144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4000"/>
              </a:srgbClr>
            </a:outerShdw>
          </a:effectLst>
        </p:spPr>
      </p:sp>
      <p:pic>
        <p:nvPicPr>
          <p:cNvPr id="52" name="Image_rId2"/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63840" y="1024255"/>
            <a:ext cx="1965960" cy="2734310"/>
          </a:xfrm>
          <a:prstGeom prst="roundRect">
            <a:avLst>
              <a:gd name="adj" fmla="val 2000"/>
            </a:avLst>
          </a:prstGeom>
        </p:spPr>
      </p:pic>
      <p:sp>
        <p:nvSpPr>
          <p:cNvPr id="53" name="img_bg_rId3"/>
          <p:cNvSpPr/>
          <p:nvPr/>
        </p:nvSpPr>
        <p:spPr>
          <a:xfrm>
            <a:off x="9921240" y="1024255"/>
            <a:ext cx="1965960" cy="2734310"/>
          </a:xfrm>
          <a:prstGeom prst="roundRect">
            <a:avLst>
              <a:gd name="adj" fmla="val 2000"/>
            </a:avLst>
          </a:prstGeom>
          <a:solidFill>
            <a:srgbClr val="F0F0F0"/>
          </a:solidFill>
          <a:ln w="9144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4000"/>
              </a:srgbClr>
            </a:outerShdw>
          </a:effectLst>
        </p:spPr>
      </p:sp>
      <p:pic>
        <p:nvPicPr>
          <p:cNvPr id="54" name="Image_rId3"/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921240" y="1024255"/>
            <a:ext cx="1965960" cy="2734310"/>
          </a:xfrm>
          <a:prstGeom prst="roundRect">
            <a:avLst>
              <a:gd name="adj" fmla="val 2000"/>
            </a:avLst>
          </a:prstGeom>
        </p:spPr>
      </p:pic>
      <p:sp>
        <p:nvSpPr>
          <p:cNvPr id="55" name="img_bg_rId4"/>
          <p:cNvSpPr/>
          <p:nvPr/>
        </p:nvSpPr>
        <p:spPr>
          <a:xfrm>
            <a:off x="5806440" y="3849370"/>
            <a:ext cx="1965960" cy="2734310"/>
          </a:xfrm>
          <a:prstGeom prst="roundRect">
            <a:avLst>
              <a:gd name="adj" fmla="val 2000"/>
            </a:avLst>
          </a:prstGeom>
          <a:solidFill>
            <a:srgbClr val="F0F0F0"/>
          </a:solidFill>
          <a:ln w="9144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4000"/>
              </a:srgbClr>
            </a:outerShdw>
          </a:effectLst>
        </p:spPr>
      </p:sp>
      <p:pic>
        <p:nvPicPr>
          <p:cNvPr id="56" name="Image_rId4"/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806440" y="3849370"/>
            <a:ext cx="1965960" cy="2734310"/>
          </a:xfrm>
          <a:prstGeom prst="roundRect">
            <a:avLst>
              <a:gd name="adj" fmla="val 2000"/>
            </a:avLst>
          </a:prstGeom>
        </p:spPr>
      </p:pic>
      <p:sp>
        <p:nvSpPr>
          <p:cNvPr id="57" name="img_bg_rId7"/>
          <p:cNvSpPr/>
          <p:nvPr/>
        </p:nvSpPr>
        <p:spPr>
          <a:xfrm>
            <a:off x="7863840" y="3849370"/>
            <a:ext cx="1965960" cy="2734310"/>
          </a:xfrm>
          <a:prstGeom prst="roundRect">
            <a:avLst>
              <a:gd name="adj" fmla="val 2000"/>
            </a:avLst>
          </a:prstGeom>
          <a:solidFill>
            <a:srgbClr val="F0F0F0"/>
          </a:solidFill>
          <a:ln w="9144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4000"/>
              </a:srgbClr>
            </a:outerShdw>
          </a:effectLst>
        </p:spPr>
      </p:sp>
      <p:pic>
        <p:nvPicPr>
          <p:cNvPr id="58" name="Image_rId7"/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7863840" y="3849370"/>
            <a:ext cx="1965960" cy="2734310"/>
          </a:xfrm>
          <a:prstGeom prst="roundRect">
            <a:avLst>
              <a:gd name="adj" fmla="val 2000"/>
            </a:avLst>
          </a:prstGeom>
        </p:spPr>
      </p:pic>
      <p:sp>
        <p:nvSpPr>
          <p:cNvPr id="59" name="img_bg_rId8"/>
          <p:cNvSpPr/>
          <p:nvPr/>
        </p:nvSpPr>
        <p:spPr>
          <a:xfrm>
            <a:off x="9921240" y="3849370"/>
            <a:ext cx="1965960" cy="2734310"/>
          </a:xfrm>
          <a:prstGeom prst="roundRect">
            <a:avLst>
              <a:gd name="adj" fmla="val 2000"/>
            </a:avLst>
          </a:prstGeom>
          <a:solidFill>
            <a:srgbClr val="F0F0F0"/>
          </a:solidFill>
          <a:ln w="9144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4000"/>
              </a:srgbClr>
            </a:outerShdw>
          </a:effectLst>
        </p:spPr>
      </p:sp>
      <p:pic>
        <p:nvPicPr>
          <p:cNvPr id="60" name="Image_rId8"/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9921240" y="3849370"/>
            <a:ext cx="1965960" cy="2734310"/>
          </a:xfrm>
          <a:prstGeom prst="roundRect">
            <a:avLst>
              <a:gd name="adj" fmla="val 2000"/>
            </a:avLst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01168"/>
            <a:ext cx="10515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Position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74320" y="621792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프로젝트의 학습 목적과 범위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896112"/>
            <a:ext cx="11612880" cy="0"/>
          </a:xfrm>
          <a:prstGeom prst="line">
            <a:avLst/>
          </a:prstGeom>
          <a:noFill/>
          <a:ln w="15240">
            <a:solidFill>
              <a:srgbClr val="DCED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137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8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11612880" cy="960120"/>
          </a:xfrm>
          <a:prstGeom prst="roundRect">
            <a:avLst>
              <a:gd name="adj" fmla="val 9524"/>
            </a:avLst>
          </a:prstGeom>
          <a:solidFill>
            <a:srgbClr val="1A3A28"/>
          </a:solidFill>
          <a:ln w="12700">
            <a:solidFill>
              <a:srgbClr val="1A3A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51560"/>
            <a:ext cx="11612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HTML / CSS / JavaScript 기초를 실제 커머스 사이트 구조를 통해 학습한 첫 번째 개인 퍼블리싱 프로젝트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" y="2212848"/>
            <a:ext cx="3730752" cy="4407408"/>
          </a:xfrm>
          <a:prstGeom prst="roundRect">
            <a:avLst>
              <a:gd name="adj" fmla="val 2941"/>
            </a:avLst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682496" y="2450592"/>
            <a:ext cx="914400" cy="914400"/>
          </a:xfrm>
          <a:prstGeom prst="ellipse">
            <a:avLst/>
          </a:prstGeom>
          <a:solidFill>
            <a:srgbClr val="2D8A53"/>
          </a:solidFill>
          <a:ln w="12700">
            <a:solidFill>
              <a:srgbClr val="2D8A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82496" y="245059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02920" y="3547872"/>
            <a:ext cx="3273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JavaScript로 첫 동적 렌더링 구현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4315968"/>
            <a:ext cx="3273552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기초 학습을 위해 시작한 첫 퍼블리싱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JavaScript로 상품 카드를 동적 생성하는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번째 경험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87952" y="2212848"/>
            <a:ext cx="3730752" cy="4407408"/>
          </a:xfrm>
          <a:prstGeom prst="roundRect">
            <a:avLst>
              <a:gd name="adj" fmla="val 2941"/>
            </a:avLst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596128" y="2450592"/>
            <a:ext cx="914400" cy="91440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96128" y="245059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416552" y="3547872"/>
            <a:ext cx="3273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커머스 6개 섹션 분석·재현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16552" y="4315968"/>
            <a:ext cx="3273552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풀무원 쇼핑몰의 주요 섹션을 직접 분석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구조·레이아웃·UI 패턴을 파악하고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화면 수준으로 재현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01584" y="2212848"/>
            <a:ext cx="3730752" cy="4407408"/>
          </a:xfrm>
          <a:prstGeom prst="roundRect">
            <a:avLst>
              <a:gd name="adj" fmla="val 2941"/>
            </a:avLst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509760" y="2450592"/>
            <a:ext cx="914400" cy="914400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09760" y="245059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330184" y="3547872"/>
            <a:ext cx="3273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섹션별 JSON 연동, 상품 카드 동적 생성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30184" y="4315968"/>
            <a:ext cx="3273552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섹션별 JSON 파일로 상품 데이터를 분리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forEach 반복으로 카드 UI 동적 생성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수정 = 화면 자동 반영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01168"/>
            <a:ext cx="10515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Reference Analysis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74320" y="621792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풀무원 쇼핑몰 구조를 분석하여 구현 범위를 정의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896112"/>
            <a:ext cx="11612880" cy="0"/>
          </a:xfrm>
          <a:prstGeom prst="line">
            <a:avLst/>
          </a:prstGeom>
          <a:noFill/>
          <a:ln w="15240">
            <a:solidFill>
              <a:srgbClr val="DCED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137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8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024128"/>
            <a:ext cx="5852160" cy="5596128"/>
          </a:xfrm>
          <a:prstGeom prst="roundRect">
            <a:avLst>
              <a:gd name="adj" fmla="val 1634"/>
            </a:avLst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24128"/>
            <a:ext cx="5852160" cy="256032"/>
          </a:xfrm>
          <a:prstGeom prst="rect">
            <a:avLst/>
          </a:prstGeom>
          <a:solidFill>
            <a:srgbClr val="E8E8E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2336" y="1088136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3504" y="1088136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" y="1088136"/>
            <a:ext cx="118872" cy="118872"/>
          </a:xfrm>
          <a:prstGeom prst="ellipse">
            <a:avLst/>
          </a:prstGeom>
          <a:solidFill>
            <a:srgbClr val="28C940"/>
          </a:solidFill>
          <a:ln w="12700">
            <a:solidFill>
              <a:srgbClr val="28C940"/>
            </a:solidFill>
            <a:prstDash val="solid"/>
          </a:ln>
        </p:spPr>
      </p:sp>
      <p:pic>
        <p:nvPicPr>
          <p:cNvPr id="11" name="Image 0" descr="/mnt/user-data/uploads/pulmuone-ma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280160"/>
            <a:ext cx="5852160" cy="534009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274320" y="6327648"/>
            <a:ext cx="5852160" cy="292608"/>
          </a:xfrm>
          <a:prstGeom prst="roundRect">
            <a:avLst>
              <a:gd name="adj" fmla="val 18750"/>
            </a:avLst>
          </a:prstGeom>
          <a:solidFill>
            <a:srgbClr val="1A3A28"/>
          </a:solidFill>
          <a:ln w="12700">
            <a:solidFill>
              <a:srgbClr val="1A3A2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4320" y="6327648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5D6A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링크: ebj0925-cyber.github.io/0311_2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355080" y="1024128"/>
            <a:ext cx="55321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528816" y="1207008"/>
            <a:ext cx="237744" cy="237744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76288" y="1097280"/>
            <a:ext cx="4828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헤더 / 내비게이션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876288" y="1408176"/>
            <a:ext cx="4828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로고·검색창·카테고리 메뉴·아이콘 구조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355080" y="1938528"/>
            <a:ext cx="55321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528816" y="2121408"/>
            <a:ext cx="237744" cy="237744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876288" y="2011680"/>
            <a:ext cx="4828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슬라이더 배너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876288" y="2322576"/>
            <a:ext cx="4828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 슬라이드 + 이전/다음 + 자동재생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355080" y="2852928"/>
            <a:ext cx="55321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528816" y="3035808"/>
            <a:ext cx="237744" cy="237744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76288" y="2926080"/>
            <a:ext cx="4828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퀵메뉴 아이콘 그리드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876288" y="3236976"/>
            <a:ext cx="4828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10개 카테고리 이미지+텍스트 반복 레이아웃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355080" y="3767328"/>
            <a:ext cx="55321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528816" y="3950208"/>
            <a:ext cx="237744" cy="237744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876288" y="3840480"/>
            <a:ext cx="4828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추천 상품 섹션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876288" y="4151376"/>
            <a:ext cx="4828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카드 5개 + 페이지네이션 구조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355080" y="4681728"/>
            <a:ext cx="55321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528816" y="4864608"/>
            <a:ext cx="237744" cy="237744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876288" y="4754880"/>
            <a:ext cx="4828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브랜드별 상품 영역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6876288" y="5065776"/>
            <a:ext cx="4828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탭 + 상품 그리드 + 배너 배치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6355080" y="5596128"/>
            <a:ext cx="55321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8F5E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6528816" y="5779008"/>
            <a:ext cx="237744" cy="237744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876288" y="5669280"/>
            <a:ext cx="4828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상세 페이지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6876288" y="5980176"/>
            <a:ext cx="4828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갤러리·가격·수량 선택·구매 버튼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01168"/>
            <a:ext cx="10515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Goal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74320" y="621792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프로젝트를 통해 학습한 3가지 핵심 목표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896112"/>
            <a:ext cx="11612880" cy="0"/>
          </a:xfrm>
          <a:prstGeom prst="line">
            <a:avLst/>
          </a:prstGeom>
          <a:noFill/>
          <a:ln w="15240">
            <a:solidFill>
              <a:srgbClr val="DCED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137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8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3730752" cy="5532120"/>
          </a:xfrm>
          <a:prstGeom prst="roundRect">
            <a:avLst>
              <a:gd name="adj" fmla="val 2941"/>
            </a:avLst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3730752" cy="1874520"/>
          </a:xfrm>
          <a:prstGeom prst="roundRect">
            <a:avLst>
              <a:gd name="adj" fmla="val 5854"/>
            </a:avLst>
          </a:prstGeom>
          <a:solidFill>
            <a:srgbClr val="E34F26"/>
          </a:solidFill>
          <a:ln w="12700">
            <a:solidFill>
              <a:srgbClr val="E34F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2606040"/>
            <a:ext cx="3730752" cy="384048"/>
          </a:xfrm>
          <a:prstGeom prst="rect">
            <a:avLst/>
          </a:prstGeom>
          <a:solidFill>
            <a:srgbClr val="E34F26"/>
          </a:solidFill>
          <a:ln w="12700">
            <a:solidFill>
              <a:srgbClr val="E34F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207008"/>
            <a:ext cx="3730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75488" y="1755648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HTML / CSS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마크업 &amp; 레이아웃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163824"/>
            <a:ext cx="182880" cy="182880"/>
          </a:xfrm>
          <a:prstGeom prst="ellipse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10896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reset/common/layout/페이지별 CSS 분리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712464"/>
            <a:ext cx="182880" cy="182880"/>
          </a:xfrm>
          <a:prstGeom prst="ellipse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65760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box-sizing·overflow·margin 직접 제어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4261104"/>
            <a:ext cx="182880" cy="182880"/>
          </a:xfrm>
          <a:prstGeom prst="ellipse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20624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Flexbox &amp; Grid 기반 상품 카드 레이아웃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187952" y="1097280"/>
            <a:ext cx="3730752" cy="5532120"/>
          </a:xfrm>
          <a:prstGeom prst="roundRect">
            <a:avLst>
              <a:gd name="adj" fmla="val 2941"/>
            </a:avLst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87952" y="1097280"/>
            <a:ext cx="3730752" cy="1874520"/>
          </a:xfrm>
          <a:prstGeom prst="roundRect">
            <a:avLst>
              <a:gd name="adj" fmla="val 5854"/>
            </a:avLst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87952" y="2606040"/>
            <a:ext cx="3730752" cy="38404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87952" y="1207008"/>
            <a:ext cx="3730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4389120" y="1755648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JavaScript +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 데이터 렌더링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416552" y="3163824"/>
            <a:ext cx="182880" cy="182880"/>
          </a:xfrm>
          <a:prstGeom prst="ellipse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90872" y="310896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 파일로 상품 데이터 관리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416552" y="3712464"/>
            <a:ext cx="182880" cy="182880"/>
          </a:xfrm>
          <a:prstGeom prst="ellipse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90872" y="365760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template literal로 HTML 문자열 생성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416552" y="4261104"/>
            <a:ext cx="182880" cy="182880"/>
          </a:xfrm>
          <a:prstGeom prst="ellipse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90872" y="420624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forEach 반복으로 카드 동적 렌더링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101584" y="1097280"/>
            <a:ext cx="3730752" cy="5532120"/>
          </a:xfrm>
          <a:prstGeom prst="roundRect">
            <a:avLst>
              <a:gd name="adj" fmla="val 2941"/>
            </a:avLst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101584" y="1097280"/>
            <a:ext cx="3730752" cy="1874520"/>
          </a:xfrm>
          <a:prstGeom prst="roundRect">
            <a:avLst>
              <a:gd name="adj" fmla="val 5854"/>
            </a:avLst>
          </a:prstGeom>
          <a:solidFill>
            <a:srgbClr val="1572B6"/>
          </a:solidFill>
          <a:ln w="12700">
            <a:solidFill>
              <a:srgbClr val="1572B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01584" y="2606040"/>
            <a:ext cx="3730752" cy="384048"/>
          </a:xfrm>
          <a:prstGeom prst="rect">
            <a:avLst/>
          </a:prstGeom>
          <a:solidFill>
            <a:srgbClr val="1572B6"/>
          </a:solidFill>
          <a:ln w="12700">
            <a:solidFill>
              <a:srgbClr val="1572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01584" y="1207008"/>
            <a:ext cx="3730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8302752" y="1755648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반응형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레이아웃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8330184" y="3163824"/>
            <a:ext cx="182880" cy="182880"/>
          </a:xfrm>
          <a:prstGeom prst="ellipse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04504" y="310896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768/1024px breakpoint 기준 설계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330184" y="3712464"/>
            <a:ext cx="182880" cy="182880"/>
          </a:xfrm>
          <a:prstGeom prst="ellipse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04504" y="365760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카드 1~3열 자동 전환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330184" y="4261104"/>
            <a:ext cx="182880" cy="182880"/>
          </a:xfrm>
          <a:prstGeom prst="ellipse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04504" y="420624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슬라이더 visibleCount 화면 너비 연동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01168"/>
            <a:ext cx="10515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Information Architecture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713232"/>
            <a:ext cx="11612880" cy="0"/>
          </a:xfrm>
          <a:prstGeom prst="line">
            <a:avLst/>
          </a:prstGeom>
          <a:noFill/>
          <a:ln w="15240">
            <a:solidFill>
              <a:srgbClr val="DCED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92840" y="137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8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5760720" cy="438912"/>
          </a:xfrm>
          <a:prstGeom prst="roundRect">
            <a:avLst>
              <a:gd name="adj" fmla="val 16667"/>
            </a:avLst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5760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index.html — 메인 쇼핑몰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54964" y="1444752"/>
            <a:ext cx="0" cy="201168"/>
          </a:xfrm>
          <a:prstGeom prst="line">
            <a:avLst/>
          </a:prstGeom>
          <a:noFill/>
          <a:ln w="12700">
            <a:solidFill>
              <a:srgbClr val="4CAF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645920"/>
            <a:ext cx="1069848" cy="841248"/>
          </a:xfrm>
          <a:prstGeom prst="roundRect">
            <a:avLst>
              <a:gd name="adj" fmla="val 8696"/>
            </a:avLst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700784"/>
            <a:ext cx="1069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88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슬라이더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74320" y="1975104"/>
            <a:ext cx="1069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slider.json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16252" y="1444752"/>
            <a:ext cx="0" cy="201168"/>
          </a:xfrm>
          <a:prstGeom prst="line">
            <a:avLst/>
          </a:prstGeom>
          <a:noFill/>
          <a:ln w="12700">
            <a:solidFill>
              <a:srgbClr val="4CAF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35608" y="1645920"/>
            <a:ext cx="1069848" cy="841248"/>
          </a:xfrm>
          <a:prstGeom prst="roundRect">
            <a:avLst>
              <a:gd name="adj" fmla="val 8696"/>
            </a:avLst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35608" y="1700784"/>
            <a:ext cx="1069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88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퀵메뉴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435608" y="1975104"/>
            <a:ext cx="1069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quick_menu.json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77540" y="1444752"/>
            <a:ext cx="0" cy="201168"/>
          </a:xfrm>
          <a:prstGeom prst="line">
            <a:avLst/>
          </a:prstGeom>
          <a:noFill/>
          <a:ln w="12700">
            <a:solidFill>
              <a:srgbClr val="4CAF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96896" y="1645920"/>
            <a:ext cx="1069848" cy="841248"/>
          </a:xfrm>
          <a:prstGeom prst="roundRect">
            <a:avLst>
              <a:gd name="adj" fmla="val 8696"/>
            </a:avLst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96896" y="1700784"/>
            <a:ext cx="1069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88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추천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596896" y="1975104"/>
            <a:ext cx="1069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01_recommend.json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38828" y="1444752"/>
            <a:ext cx="0" cy="201168"/>
          </a:xfrm>
          <a:prstGeom prst="line">
            <a:avLst/>
          </a:prstGeom>
          <a:noFill/>
          <a:ln w="12700">
            <a:solidFill>
              <a:srgbClr val="4CAF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58184" y="1645920"/>
            <a:ext cx="1069848" cy="841248"/>
          </a:xfrm>
          <a:prstGeom prst="roundRect">
            <a:avLst>
              <a:gd name="adj" fmla="val 8696"/>
            </a:avLst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58184" y="1700784"/>
            <a:ext cx="1069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88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세일·신상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758184" y="1975104"/>
            <a:ext cx="1069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섹션별 JSON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500116" y="1444752"/>
            <a:ext cx="0" cy="201168"/>
          </a:xfrm>
          <a:prstGeom prst="line">
            <a:avLst/>
          </a:prstGeom>
          <a:noFill/>
          <a:ln w="12700">
            <a:solidFill>
              <a:srgbClr val="4CAF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19472" y="1645920"/>
            <a:ext cx="1069848" cy="841248"/>
          </a:xfrm>
          <a:prstGeom prst="roundRect">
            <a:avLst>
              <a:gd name="adj" fmla="val 8696"/>
            </a:avLst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9472" y="1700784"/>
            <a:ext cx="1069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88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919472" y="1975104"/>
            <a:ext cx="1069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08_brand.json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2743200"/>
            <a:ext cx="5760720" cy="438912"/>
          </a:xfrm>
          <a:prstGeom prst="roundRect">
            <a:avLst>
              <a:gd name="adj" fmla="val 16667"/>
            </a:avLst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2743200"/>
            <a:ext cx="5760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sub.html — 상품 상세 페이지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54964" y="3182112"/>
            <a:ext cx="0" cy="201168"/>
          </a:xfrm>
          <a:prstGeom prst="line">
            <a:avLst/>
          </a:prstGeom>
          <a:noFill/>
          <a:ln w="12700">
            <a:solidFill>
              <a:srgbClr val="388E3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383280"/>
            <a:ext cx="1069848" cy="841248"/>
          </a:xfrm>
          <a:prstGeom prst="roundRect">
            <a:avLst>
              <a:gd name="adj" fmla="val 8696"/>
            </a:avLst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438144"/>
            <a:ext cx="1069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88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이미지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274320" y="3712464"/>
            <a:ext cx="1069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썸네일 갤러리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016252" y="3182112"/>
            <a:ext cx="0" cy="201168"/>
          </a:xfrm>
          <a:prstGeom prst="line">
            <a:avLst/>
          </a:prstGeom>
          <a:noFill/>
          <a:ln w="12700">
            <a:solidFill>
              <a:srgbClr val="388E3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435608" y="3383280"/>
            <a:ext cx="1069848" cy="841248"/>
          </a:xfrm>
          <a:prstGeom prst="roundRect">
            <a:avLst>
              <a:gd name="adj" fmla="val 8696"/>
            </a:avLst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35608" y="3438144"/>
            <a:ext cx="1069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88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가격/옵션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435608" y="3712464"/>
            <a:ext cx="1069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sub.json 로드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177540" y="3182112"/>
            <a:ext cx="0" cy="201168"/>
          </a:xfrm>
          <a:prstGeom prst="line">
            <a:avLst/>
          </a:prstGeom>
          <a:noFill/>
          <a:ln w="12700">
            <a:solidFill>
              <a:srgbClr val="388E3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96896" y="3383280"/>
            <a:ext cx="1069848" cy="841248"/>
          </a:xfrm>
          <a:prstGeom prst="roundRect">
            <a:avLst>
              <a:gd name="adj" fmla="val 8696"/>
            </a:avLst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96896" y="3438144"/>
            <a:ext cx="1069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88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수량 계산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2596896" y="3712464"/>
            <a:ext cx="1069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qty × 단가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338828" y="3182112"/>
            <a:ext cx="0" cy="201168"/>
          </a:xfrm>
          <a:prstGeom prst="line">
            <a:avLst/>
          </a:prstGeom>
          <a:noFill/>
          <a:ln w="12700">
            <a:solidFill>
              <a:srgbClr val="388E3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758184" y="3383280"/>
            <a:ext cx="1069848" cy="841248"/>
          </a:xfrm>
          <a:prstGeom prst="roundRect">
            <a:avLst>
              <a:gd name="adj" fmla="val 8696"/>
            </a:avLst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58184" y="3438144"/>
            <a:ext cx="1069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88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상품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3758184" y="3712464"/>
            <a:ext cx="1069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하단 카드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500116" y="3182112"/>
            <a:ext cx="0" cy="201168"/>
          </a:xfrm>
          <a:prstGeom prst="line">
            <a:avLst/>
          </a:prstGeom>
          <a:noFill/>
          <a:ln w="12700">
            <a:solidFill>
              <a:srgbClr val="388E3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919472" y="3383280"/>
            <a:ext cx="1069848" cy="841248"/>
          </a:xfrm>
          <a:prstGeom prst="roundRect">
            <a:avLst>
              <a:gd name="adj" fmla="val 8696"/>
            </a:avLst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19472" y="3438144"/>
            <a:ext cx="1069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88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탭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4919472" y="3712464"/>
            <a:ext cx="1069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정보·배송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263640" y="1005840"/>
            <a:ext cx="5623560" cy="5623560"/>
          </a:xfrm>
          <a:prstGeom prst="roundRect">
            <a:avLst>
              <a:gd name="adj" fmla="val 1951"/>
            </a:avLst>
          </a:prstGeom>
          <a:solidFill>
            <a:srgbClr val="1E2D3D"/>
          </a:solidFill>
          <a:ln w="12700">
            <a:solidFill>
              <a:srgbClr val="2D4A5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446520" y="11155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5D6A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흐름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537960" y="1481328"/>
            <a:ext cx="5074920" cy="960120"/>
          </a:xfrm>
          <a:prstGeom prst="roundRect">
            <a:avLst>
              <a:gd name="adj" fmla="val 76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656832" y="1755648"/>
            <a:ext cx="411480" cy="41148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656832" y="17556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7178040" y="157276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json/ 폴더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7178040" y="1883664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A4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데이터 JSON 파일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6537960" y="2441448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AF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537960" y="2715768"/>
            <a:ext cx="5074920" cy="960120"/>
          </a:xfrm>
          <a:prstGeom prst="roundRect">
            <a:avLst>
              <a:gd name="adj" fmla="val 76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656832" y="2990088"/>
            <a:ext cx="411480" cy="41148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656832" y="29900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7178040" y="280720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js/ fetch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7178040" y="3118104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A4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섹션별 JS가 데이터 로드</a:t>
            </a:r>
            <a:endParaRPr lang="en-US" sz="1150" dirty="0"/>
          </a:p>
        </p:txBody>
      </p:sp>
      <p:sp>
        <p:nvSpPr>
          <p:cNvPr id="62" name="Text 60"/>
          <p:cNvSpPr/>
          <p:nvPr/>
        </p:nvSpPr>
        <p:spPr>
          <a:xfrm>
            <a:off x="6537960" y="3675888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AF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537960" y="3950208"/>
            <a:ext cx="5074920" cy="960120"/>
          </a:xfrm>
          <a:prstGeom prst="roundRect">
            <a:avLst>
              <a:gd name="adj" fmla="val 76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656832" y="4224528"/>
            <a:ext cx="411480" cy="41148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656832" y="42245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66" name="Text 64"/>
          <p:cNvSpPr/>
          <p:nvPr/>
        </p:nvSpPr>
        <p:spPr>
          <a:xfrm>
            <a:off x="7178040" y="404164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7178040" y="4352544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A4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template literal로 카드 생성</a:t>
            </a:r>
            <a:endParaRPr lang="en-US" sz="1150" dirty="0"/>
          </a:p>
        </p:txBody>
      </p:sp>
      <p:sp>
        <p:nvSpPr>
          <p:cNvPr id="68" name="Text 66"/>
          <p:cNvSpPr/>
          <p:nvPr/>
        </p:nvSpPr>
        <p:spPr>
          <a:xfrm>
            <a:off x="6537960" y="4910328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CAF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6537960" y="5184648"/>
            <a:ext cx="5074920" cy="960120"/>
          </a:xfrm>
          <a:prstGeom prst="roundRect">
            <a:avLst>
              <a:gd name="adj" fmla="val 7619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656832" y="5458968"/>
            <a:ext cx="411480" cy="41148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656832" y="54589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7178040" y="527608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5D6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innerHTML</a:t>
            </a:r>
            <a:endParaRPr lang="en-US" sz="1300" dirty="0"/>
          </a:p>
        </p:txBody>
      </p:sp>
      <p:sp>
        <p:nvSpPr>
          <p:cNvPr id="73" name="Text 71"/>
          <p:cNvSpPr/>
          <p:nvPr/>
        </p:nvSpPr>
        <p:spPr>
          <a:xfrm>
            <a:off x="7178040" y="5586984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A4A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DOM에 삽입 · 화면 완성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01168"/>
            <a:ext cx="10515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스택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74320" y="621792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풀무원 쇼핑몰 퍼블리싱에 사용된 기술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896112"/>
            <a:ext cx="11612880" cy="0"/>
          </a:xfrm>
          <a:prstGeom prst="line">
            <a:avLst/>
          </a:prstGeom>
          <a:noFill/>
          <a:ln w="15240">
            <a:solidFill>
              <a:srgbClr val="DCED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137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8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3730752" cy="5532120"/>
          </a:xfrm>
          <a:prstGeom prst="roundRect">
            <a:avLst>
              <a:gd name="adj" fmla="val 2941"/>
            </a:avLst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3730752" cy="1783080"/>
          </a:xfrm>
          <a:prstGeom prst="roundRect">
            <a:avLst>
              <a:gd name="adj" fmla="val 6154"/>
            </a:avLst>
          </a:prstGeom>
          <a:solidFill>
            <a:srgbClr val="E34F26"/>
          </a:solidFill>
          <a:ln w="12700">
            <a:solidFill>
              <a:srgbClr val="E34F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2514600"/>
            <a:ext cx="3730752" cy="384048"/>
          </a:xfrm>
          <a:prstGeom prst="rect">
            <a:avLst/>
          </a:prstGeom>
          <a:solidFill>
            <a:srgbClr val="E34F26"/>
          </a:solidFill>
          <a:ln w="12700">
            <a:solidFill>
              <a:srgbClr val="E34F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389888"/>
            <a:ext cx="373075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HTML5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530352" y="3090672"/>
            <a:ext cx="182880" cy="182880"/>
          </a:xfrm>
          <a:prstGeom prst="ellipse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303580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8개 섹션별 HTML 파일 분리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0352" y="3639312"/>
            <a:ext cx="182880" cy="182880"/>
          </a:xfrm>
          <a:prstGeom prst="ellipse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358444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시맨틱 태그 구조 설계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30352" y="4187952"/>
            <a:ext cx="182880" cy="182880"/>
          </a:xfrm>
          <a:prstGeom prst="ellipse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413308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template literal 기반 마크업 렌더링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30352" y="4736592"/>
            <a:ext cx="182880" cy="182880"/>
          </a:xfrm>
          <a:prstGeom prst="ellipse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468172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index.html / sub.html 페이지 구성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87952" y="1097280"/>
            <a:ext cx="3730752" cy="5532120"/>
          </a:xfrm>
          <a:prstGeom prst="roundRect">
            <a:avLst>
              <a:gd name="adj" fmla="val 2941"/>
            </a:avLst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87952" y="1097280"/>
            <a:ext cx="3730752" cy="1783080"/>
          </a:xfrm>
          <a:prstGeom prst="roundRect">
            <a:avLst>
              <a:gd name="adj" fmla="val 6154"/>
            </a:avLst>
          </a:prstGeom>
          <a:solidFill>
            <a:srgbClr val="1572B6"/>
          </a:solidFill>
          <a:ln w="12700">
            <a:solidFill>
              <a:srgbClr val="1572B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87952" y="2514600"/>
            <a:ext cx="3730752" cy="384048"/>
          </a:xfrm>
          <a:prstGeom prst="rect">
            <a:avLst/>
          </a:prstGeom>
          <a:solidFill>
            <a:srgbClr val="1572B6"/>
          </a:solidFill>
          <a:ln w="12700">
            <a:solidFill>
              <a:srgbClr val="1572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87952" y="1389888"/>
            <a:ext cx="373075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CSS3</a:t>
            </a:r>
            <a:endParaRPr lang="en-US" sz="3600" dirty="0"/>
          </a:p>
        </p:txBody>
      </p:sp>
      <p:sp>
        <p:nvSpPr>
          <p:cNvPr id="22" name="Shape 20"/>
          <p:cNvSpPr/>
          <p:nvPr/>
        </p:nvSpPr>
        <p:spPr>
          <a:xfrm>
            <a:off x="4443984" y="3090672"/>
            <a:ext cx="182880" cy="182880"/>
          </a:xfrm>
          <a:prstGeom prst="ellipse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18304" y="303580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reset / common / layout / 페이지별 분리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443984" y="3639312"/>
            <a:ext cx="182880" cy="182880"/>
          </a:xfrm>
          <a:prstGeom prst="ellipse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18304" y="358444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Flexbox &amp; Grid 상품 카드 레이아웃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443984" y="4187952"/>
            <a:ext cx="182880" cy="182880"/>
          </a:xfrm>
          <a:prstGeom prst="ellipse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18304" y="413308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@media 768/1024px 반응형 3단계 대응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443984" y="4736592"/>
            <a:ext cx="182880" cy="182880"/>
          </a:xfrm>
          <a:prstGeom prst="ellipse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18304" y="468172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box-sizing · overflow · margin 직접 제어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101584" y="1097280"/>
            <a:ext cx="3730752" cy="5532120"/>
          </a:xfrm>
          <a:prstGeom prst="roundRect">
            <a:avLst>
              <a:gd name="adj" fmla="val 2941"/>
            </a:avLst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101584" y="1097280"/>
            <a:ext cx="3730752" cy="1783080"/>
          </a:xfrm>
          <a:prstGeom prst="roundRect">
            <a:avLst>
              <a:gd name="adj" fmla="val 6154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01584" y="2514600"/>
            <a:ext cx="3730752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101584" y="1389888"/>
            <a:ext cx="373075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 + JSON</a:t>
            </a:r>
            <a:endParaRPr lang="en-US" sz="3600" dirty="0"/>
          </a:p>
        </p:txBody>
      </p:sp>
      <p:sp>
        <p:nvSpPr>
          <p:cNvPr id="34" name="Shape 32"/>
          <p:cNvSpPr/>
          <p:nvPr/>
        </p:nvSpPr>
        <p:spPr>
          <a:xfrm>
            <a:off x="8357616" y="3090672"/>
            <a:ext cx="182880" cy="182880"/>
          </a:xfrm>
          <a:prstGeom prst="ellipse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31936" y="303580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fetch API 기반 JSON 데이터 로딩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357616" y="3639312"/>
            <a:ext cx="182880" cy="182880"/>
          </a:xfrm>
          <a:prstGeom prst="ellipse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31936" y="358444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forEach + template literal 카드 렌더링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357616" y="4187952"/>
            <a:ext cx="182880" cy="182880"/>
          </a:xfrm>
          <a:prstGeom prst="ellipse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31936" y="413308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setInterval 슬라이더 자동재생 구현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357616" y="4736592"/>
            <a:ext cx="182880" cy="182880"/>
          </a:xfrm>
          <a:prstGeom prst="ellipse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31936" y="468172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핸들링 · DOM 조작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4"/>
          <p:cNvSpPr>
            <a:spLocks/>
          </p:cNvSpPr>
          <p:nvPr/>
        </p:nvSpPr>
        <p:spPr>
          <a:xfrm rot="0">
            <a:off x="4928870" y="1036955"/>
            <a:ext cx="7082790" cy="5639435"/>
          </a:xfrm>
          <a:prstGeom prst="roundRect">
            <a:avLst>
              <a:gd name="adj" fmla="val 1916"/>
            </a:avLst>
          </a:prstGeom>
          <a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0" t="0" r="0" b="0"/>
            </a:stretch>
          </a:blipFill>
          <a:ln w="12700" cap="flat" cmpd="sng">
            <a:solidFill>
              <a:srgbClr val="E0E0E0">
                <a:alpha val="100000"/>
              </a:srgbClr>
            </a:solidFill>
            <a:prstDash val="solid"/>
          </a:ln>
          <a:effectLst>
            <a:outerShdw sx="100000" sy="100000" blurRad="76200" dist="25400" dir="2700000" rotWithShape="0" algn="bl">
              <a:srgbClr val="000000">
                <a:alpha val="6666"/>
              </a:srgbClr>
            </a:outerShdw>
          </a:effectLst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2" name="Text 0"/>
          <p:cNvSpPr/>
          <p:nvPr/>
        </p:nvSpPr>
        <p:spPr>
          <a:xfrm>
            <a:off x="274320" y="201295"/>
            <a:ext cx="10515600" cy="475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74320" y="621665"/>
            <a:ext cx="105156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구현한 6가지 핵심 기능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895985"/>
            <a:ext cx="11612880" cy="0"/>
          </a:xfrm>
          <a:prstGeom prst="line">
            <a:avLst/>
          </a:prstGeom>
          <a:noFill/>
          <a:ln w="15240">
            <a:solidFill>
              <a:srgbClr val="DCED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137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8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400" dirty="0"/>
          </a:p>
        </p:txBody>
      </p:sp>
      <p:sp>
        <p:nvSpPr>
          <p:cNvPr id="6" name="Shape 4"/>
          <p:cNvSpPr>
            <a:spLocks/>
          </p:cNvSpPr>
          <p:nvPr/>
        </p:nvSpPr>
        <p:spPr>
          <a:xfrm rot="0">
            <a:off x="274320" y="1051560"/>
            <a:ext cx="4577715" cy="777875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 cap="flat" cmpd="sng">
            <a:solidFill>
              <a:srgbClr val="C8E6C9">
                <a:alpha val="100000"/>
              </a:srgbClr>
            </a:solidFill>
            <a:prstDash val="solid"/>
          </a:ln>
          <a:effectLst>
            <a:outerShdw sx="100000" sy="100000" blurRad="76200" dist="25400" dir="2700000" rotWithShape="0" algn="bl">
              <a:srgbClr val="000000">
                <a:alpha val="6666"/>
              </a:srgbClr>
            </a:outerShdw>
          </a:effectLst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320040" cy="32004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34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5985" y="1115695"/>
            <a:ext cx="5806440" cy="255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슬라이더 배너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95985" y="1398905"/>
            <a:ext cx="5806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 데이터 기반 자동재생 슬라이더 구현</a:t>
            </a:r>
            <a:endParaRPr lang="en-US" sz="1200" dirty="0"/>
          </a:p>
        </p:txBody>
      </p:sp>
      <p:sp>
        <p:nvSpPr>
          <p:cNvPr id="11" name="Shape 9"/>
          <p:cNvSpPr>
            <a:spLocks/>
          </p:cNvSpPr>
          <p:nvPr/>
        </p:nvSpPr>
        <p:spPr>
          <a:xfrm rot="0">
            <a:off x="274320" y="1931670"/>
            <a:ext cx="4561840" cy="777875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 cap="flat" cmpd="sng">
            <a:solidFill>
              <a:srgbClr val="C8E6C9">
                <a:alpha val="100000"/>
              </a:srgbClr>
            </a:solidFill>
            <a:prstDash val="solid"/>
          </a:ln>
          <a:effectLst>
            <a:outerShdw sx="100000" sy="100000" blurRad="76200" dist="25400" dir="2700000" rotWithShape="0" algn="bl">
              <a:srgbClr val="000000">
                <a:alpha val="6666"/>
              </a:srgbClr>
            </a:outerShdw>
          </a:effectLst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57200" y="2130425"/>
            <a:ext cx="320040" cy="32004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130425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95985" y="2011680"/>
            <a:ext cx="5806440" cy="255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추천 상품 섹션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95985" y="2294890"/>
            <a:ext cx="5806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취향/재구매 기반 UI 구조 설계</a:t>
            </a:r>
            <a:endParaRPr lang="en-US" sz="1200" dirty="0"/>
          </a:p>
        </p:txBody>
      </p:sp>
      <p:sp>
        <p:nvSpPr>
          <p:cNvPr id="16" name="Shape 14"/>
          <p:cNvSpPr>
            <a:spLocks/>
          </p:cNvSpPr>
          <p:nvPr/>
        </p:nvSpPr>
        <p:spPr>
          <a:xfrm rot="0">
            <a:off x="274320" y="2827655"/>
            <a:ext cx="4577715" cy="777875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 cap="flat" cmpd="sng">
            <a:solidFill>
              <a:srgbClr val="C8E6C9">
                <a:alpha val="100000"/>
              </a:srgbClr>
            </a:solidFill>
            <a:prstDash val="solid"/>
          </a:ln>
          <a:effectLst>
            <a:outerShdw sx="100000" sy="100000" blurRad="76200" dist="25400" dir="2700000" rotWithShape="0" algn="bl">
              <a:srgbClr val="000000">
                <a:alpha val="6666"/>
              </a:srgbClr>
            </a:outerShdw>
          </a:effectLst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57200" y="3026410"/>
            <a:ext cx="320040" cy="32004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02641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95985" y="2907665"/>
            <a:ext cx="5806440" cy="255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카테고리 탭 내비게이션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95985" y="3191510"/>
            <a:ext cx="5806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베스트·세일·신상품·이벤트 탭 구성</a:t>
            </a:r>
            <a:endParaRPr lang="en-US" sz="1200" dirty="0"/>
          </a:p>
        </p:txBody>
      </p:sp>
      <p:sp>
        <p:nvSpPr>
          <p:cNvPr id="21" name="Shape 19"/>
          <p:cNvSpPr>
            <a:spLocks/>
          </p:cNvSpPr>
          <p:nvPr/>
        </p:nvSpPr>
        <p:spPr>
          <a:xfrm rot="0">
            <a:off x="274320" y="3740150"/>
            <a:ext cx="4577715" cy="777875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 cap="flat" cmpd="sng">
            <a:solidFill>
              <a:srgbClr val="C8E6C9">
                <a:alpha val="100000"/>
              </a:srgbClr>
            </a:solidFill>
            <a:prstDash val="solid"/>
          </a:ln>
          <a:effectLst>
            <a:outerShdw sx="100000" sy="100000" blurRad="76200" dist="25400" dir="2700000" rotWithShape="0" algn="bl">
              <a:srgbClr val="000000">
                <a:alpha val="6666"/>
              </a:srgbClr>
            </a:outerShdw>
          </a:effectLst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57200" y="3923030"/>
            <a:ext cx="320040" cy="32004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92303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95985" y="3803650"/>
            <a:ext cx="5806440" cy="255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브랜드별 상품 섹션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95985" y="4087495"/>
            <a:ext cx="5806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탭 UI + 대표 브랜드 상품 그리드</a:t>
            </a:r>
            <a:endParaRPr lang="en-US" sz="1200" dirty="0"/>
          </a:p>
        </p:txBody>
      </p:sp>
      <p:sp>
        <p:nvSpPr>
          <p:cNvPr id="26" name="Shape 24"/>
          <p:cNvSpPr>
            <a:spLocks/>
          </p:cNvSpPr>
          <p:nvPr/>
        </p:nvSpPr>
        <p:spPr>
          <a:xfrm rot="0">
            <a:off x="274320" y="4636135"/>
            <a:ext cx="4561840" cy="777875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 cap="flat" cmpd="sng">
            <a:solidFill>
              <a:srgbClr val="C8E6C9">
                <a:alpha val="100000"/>
              </a:srgbClr>
            </a:solidFill>
            <a:prstDash val="solid"/>
          </a:ln>
          <a:effectLst>
            <a:outerShdw sx="100000" sy="100000" blurRad="76200" dist="25400" dir="2700000" rotWithShape="0" algn="bl">
              <a:srgbClr val="000000">
                <a:alpha val="6666"/>
              </a:srgbClr>
            </a:outerShdw>
          </a:effectLst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457200" y="4819015"/>
            <a:ext cx="320040" cy="32004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819015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95985" y="4700270"/>
            <a:ext cx="5806440" cy="255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상세 페이지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95985" y="4983480"/>
            <a:ext cx="5806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갤러리·가격·옵션 선택 UI</a:t>
            </a:r>
            <a:endParaRPr lang="en-US" sz="1200" dirty="0"/>
          </a:p>
        </p:txBody>
      </p:sp>
      <p:sp>
        <p:nvSpPr>
          <p:cNvPr id="31" name="Shape 29"/>
          <p:cNvSpPr>
            <a:spLocks/>
          </p:cNvSpPr>
          <p:nvPr/>
        </p:nvSpPr>
        <p:spPr>
          <a:xfrm rot="0">
            <a:off x="274320" y="5532120"/>
            <a:ext cx="4577715" cy="777875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 cap="flat" cmpd="sng">
            <a:solidFill>
              <a:srgbClr val="C8E6C9">
                <a:alpha val="100000"/>
              </a:srgbClr>
            </a:solidFill>
            <a:prstDash val="solid"/>
          </a:ln>
          <a:effectLst>
            <a:outerShdw sx="100000" sy="100000" blurRad="76200" dist="25400" dir="2700000" rotWithShape="0" algn="bl">
              <a:srgbClr val="000000">
                <a:alpha val="6666"/>
              </a:srgbClr>
            </a:outerShdw>
          </a:effectLst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457200" y="5715000"/>
            <a:ext cx="320040" cy="32004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5715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95985" y="5596255"/>
            <a:ext cx="5806440" cy="255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수량 변경 &amp; 총액 계산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95985" y="5879465"/>
            <a:ext cx="5806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단가 × 수량 계산 · 총액 반영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274320" y="201295"/>
            <a:ext cx="10515600" cy="475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 구조</a:t>
            </a:r>
          </a:p>
        </p:txBody>
      </p:sp>
      <p:sp>
        <p:nvSpPr>
          <p:cNvPr id="3" name="subtitle"/>
          <p:cNvSpPr/>
          <p:nvPr/>
        </p:nvSpPr>
        <p:spPr>
          <a:xfrm>
            <a:off x="274320" y="621665"/>
            <a:ext cx="10515600" cy="237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역할별로 분리된 파일 구조</a:t>
            </a:r>
          </a:p>
        </p:txBody>
      </p:sp>
      <p:sp>
        <p:nvSpPr>
          <p:cNvPr id="4" name="topline"/>
          <p:cNvSpPr/>
          <p:nvPr/>
        </p:nvSpPr>
        <p:spPr>
          <a:xfrm>
            <a:off x="274320" y="895985"/>
            <a:ext cx="11612880" cy="0"/>
          </a:xfrm>
          <a:prstGeom prst="line">
            <a:avLst/>
          </a:prstGeom>
          <a:noFill/>
          <a:ln w="15240">
            <a:solidFill>
              <a:srgbClr val="C8DDD0"/>
            </a:solidFill>
            <a:prstDash val="solid"/>
          </a:ln>
        </p:spPr>
      </p:sp>
      <p:sp>
        <p:nvSpPr>
          <p:cNvPr id="5" name="pagenum"/>
          <p:cNvSpPr/>
          <p:nvPr/>
        </p:nvSpPr>
        <p:spPr>
          <a:xfrm>
            <a:off x="11292840" y="137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8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</a:p>
        </p:txBody>
      </p:sp>
      <p:sp>
        <p:nvSpPr>
          <p:cNvPr id="6" name="codebox_bg"/>
          <p:cNvSpPr>
            <a:spLocks/>
          </p:cNvSpPr>
          <p:nvPr/>
        </p:nvSpPr>
        <p:spPr>
          <a:xfrm rot="0">
            <a:off x="274320" y="995045"/>
            <a:ext cx="6675755" cy="5643880"/>
          </a:xfrm>
          <a:prstGeom prst="roundRect">
            <a:avLst>
              <a:gd name="adj" fmla="val 1961"/>
            </a:avLst>
          </a:prstGeom>
          <a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0" t="0" r="0" b="0"/>
            </a:stretch>
          </a:blipFill>
          <a:ln w="12700" cap="flat" cmpd="sng">
            <a:solidFill>
              <a:srgbClr val="263350">
                <a:alpha val="100000"/>
              </a:srgbClr>
            </a:solidFill>
            <a:prstDash val="solid"/>
          </a:ln>
          <a:effectLst>
            <a:outerShdw sx="100000" sy="100000" blurRad="76200" dist="25400" dir="2700000" rotWithShape="0" algn="bl">
              <a:srgbClr val="000000">
                <a:alpha val="6666"/>
              </a:srgbClr>
            </a:outerShdw>
          </a:effectLst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7" name="file_label"/>
          <p:cNvSpPr>
            <a:spLocks/>
          </p:cNvSpPr>
          <p:nvPr/>
        </p:nvSpPr>
        <p:spPr>
          <a:xfrm rot="0">
            <a:off x="2371725" y="547370"/>
            <a:ext cx="6163945" cy="25654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>
              <a:buFontTx/>
              <a:buNone/>
            </a:pPr>
            <a:r>
              <a:rPr lang="en-US" sz="1100">
                <a:solidFill>
                  <a:srgbClr val="9B72CF"/>
                </a:solidFill>
                <a:latin typeface="Courier New" charset="0"/>
                <a:ea typeface="Courier New" charset="0"/>
                <a:cs typeface="Courier New" charset="0"/>
              </a:rPr>
              <a:t>project root / 0311_2</a:t>
            </a:r>
            <a:endParaRPr lang="ko-KR" altLang="en-US" sz="1100">
              <a:solidFill>
                <a:srgbClr val="9B72CF"/>
              </a:solidFill>
              <a:latin typeface="Courier New" charset="0"/>
              <a:ea typeface="Courier New" charset="0"/>
              <a:cs typeface="Courier New" charset="0"/>
            </a:endParaRPr>
          </a:p>
        </p:txBody>
      </p:sp>
      <p:sp>
        <p:nvSpPr>
          <p:cNvPr id="100" name="row_bg_0"/>
          <p:cNvSpPr/>
          <p:nvPr/>
        </p:nvSpPr>
        <p:spPr>
          <a:xfrm>
            <a:off x="7241540" y="1061085"/>
            <a:ext cx="4204335" cy="621665"/>
          </a:xfrm>
          <a:prstGeom prst="roundRect">
            <a:avLst>
              <a:gd name="adj" fmla="val 3000"/>
            </a:avLst>
          </a:prstGeom>
          <a:solidFill>
            <a:srgbClr val="F0F9F4"/>
          </a:solidFill>
          <a:ln w="10160">
            <a:solidFill>
              <a:srgbClr val="C8DDD0"/>
            </a:solidFill>
            <a:prstDash val="solid"/>
          </a:ln>
        </p:spPr>
      </p:sp>
      <p:sp>
        <p:nvSpPr>
          <p:cNvPr id="101" name="folder_name_0"/>
          <p:cNvSpPr/>
          <p:nvPr/>
        </p:nvSpPr>
        <p:spPr>
          <a:xfrm>
            <a:off x="7424420" y="1152525"/>
            <a:ext cx="912495" cy="292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8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css/</a:t>
            </a:r>
          </a:p>
        </p:txBody>
      </p:sp>
      <p:sp>
        <p:nvSpPr>
          <p:cNvPr id="102" name="folder_desc_0"/>
          <p:cNvSpPr/>
          <p:nvPr/>
        </p:nvSpPr>
        <p:spPr>
          <a:xfrm>
            <a:off x="8336915" y="1152525"/>
            <a:ext cx="2926080" cy="292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reset · common · layout · main / sub 스타일 분리</a:t>
            </a:r>
          </a:p>
        </p:txBody>
      </p:sp>
      <p:sp>
        <p:nvSpPr>
          <p:cNvPr id="103" name="row_div_0"/>
          <p:cNvSpPr/>
          <p:nvPr/>
        </p:nvSpPr>
        <p:spPr>
          <a:xfrm>
            <a:off x="7332980" y="1755775"/>
            <a:ext cx="4021455" cy="0"/>
          </a:xfrm>
          <a:prstGeom prst="line">
            <a:avLst/>
          </a:prstGeom>
          <a:noFill/>
          <a:ln w="9144">
            <a:solidFill>
              <a:srgbClr val="C8DDD0"/>
            </a:solidFill>
            <a:prstDash val="solid"/>
          </a:ln>
        </p:spPr>
      </p:sp>
      <p:sp>
        <p:nvSpPr>
          <p:cNvPr id="110" name="row_bg_1"/>
          <p:cNvSpPr/>
          <p:nvPr/>
        </p:nvSpPr>
        <p:spPr>
          <a:xfrm>
            <a:off x="7241540" y="2012950"/>
            <a:ext cx="4204335" cy="621665"/>
          </a:xfrm>
          <a:prstGeom prst="roundRect">
            <a:avLst>
              <a:gd name="adj" fmla="val 3000"/>
            </a:avLst>
          </a:prstGeom>
          <a:solidFill>
            <a:srgbClr val="F0F9F4"/>
          </a:solidFill>
          <a:ln w="10160">
            <a:solidFill>
              <a:srgbClr val="C8DDD0"/>
            </a:solidFill>
            <a:prstDash val="solid"/>
          </a:ln>
        </p:spPr>
      </p:sp>
      <p:sp>
        <p:nvSpPr>
          <p:cNvPr id="111" name="folder_name_1"/>
          <p:cNvSpPr/>
          <p:nvPr/>
        </p:nvSpPr>
        <p:spPr>
          <a:xfrm>
            <a:off x="7424420" y="2104390"/>
            <a:ext cx="912495" cy="292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8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js/</a:t>
            </a:r>
          </a:p>
        </p:txBody>
      </p:sp>
      <p:sp>
        <p:nvSpPr>
          <p:cNvPr id="112" name="folder_desc_1"/>
          <p:cNvSpPr/>
          <p:nvPr/>
        </p:nvSpPr>
        <p:spPr>
          <a:xfrm>
            <a:off x="8336915" y="2104390"/>
            <a:ext cx="2926080" cy="292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fetch 렌더링 · 슬라이더 · 상세 · 공통 인터랙션</a:t>
            </a:r>
          </a:p>
        </p:txBody>
      </p:sp>
      <p:sp>
        <p:nvSpPr>
          <p:cNvPr id="113" name="row_div_1"/>
          <p:cNvSpPr/>
          <p:nvPr/>
        </p:nvSpPr>
        <p:spPr>
          <a:xfrm>
            <a:off x="7332980" y="2707640"/>
            <a:ext cx="4021455" cy="0"/>
          </a:xfrm>
          <a:prstGeom prst="line">
            <a:avLst/>
          </a:prstGeom>
          <a:noFill/>
          <a:ln w="9144">
            <a:solidFill>
              <a:srgbClr val="C8DDD0"/>
            </a:solidFill>
            <a:prstDash val="solid"/>
          </a:ln>
        </p:spPr>
      </p:sp>
      <p:sp>
        <p:nvSpPr>
          <p:cNvPr id="120" name="row_bg_2"/>
          <p:cNvSpPr/>
          <p:nvPr/>
        </p:nvSpPr>
        <p:spPr>
          <a:xfrm>
            <a:off x="7241540" y="2964815"/>
            <a:ext cx="4204335" cy="621665"/>
          </a:xfrm>
          <a:prstGeom prst="roundRect">
            <a:avLst>
              <a:gd name="adj" fmla="val 3000"/>
            </a:avLst>
          </a:prstGeom>
          <a:solidFill>
            <a:srgbClr val="F0F9F4"/>
          </a:solidFill>
          <a:ln w="10160">
            <a:solidFill>
              <a:srgbClr val="C8DDD0"/>
            </a:solidFill>
            <a:prstDash val="solid"/>
          </a:ln>
        </p:spPr>
      </p:sp>
      <p:sp>
        <p:nvSpPr>
          <p:cNvPr id="121" name="folder_name_2"/>
          <p:cNvSpPr/>
          <p:nvPr/>
        </p:nvSpPr>
        <p:spPr>
          <a:xfrm>
            <a:off x="7424420" y="3056255"/>
            <a:ext cx="912495" cy="292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8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json/</a:t>
            </a:r>
          </a:p>
        </p:txBody>
      </p:sp>
      <p:sp>
        <p:nvSpPr>
          <p:cNvPr id="122" name="folder_desc_2"/>
          <p:cNvSpPr/>
          <p:nvPr/>
        </p:nvSpPr>
        <p:spPr>
          <a:xfrm>
            <a:off x="8336915" y="3056255"/>
            <a:ext cx="2926080" cy="292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섹션별 상품 데이터 분리</a:t>
            </a:r>
          </a:p>
        </p:txBody>
      </p:sp>
      <p:sp>
        <p:nvSpPr>
          <p:cNvPr id="123" name="row_div_2"/>
          <p:cNvSpPr/>
          <p:nvPr/>
        </p:nvSpPr>
        <p:spPr>
          <a:xfrm>
            <a:off x="7332980" y="3660140"/>
            <a:ext cx="4021455" cy="0"/>
          </a:xfrm>
          <a:prstGeom prst="line">
            <a:avLst/>
          </a:prstGeom>
          <a:noFill/>
          <a:ln w="9144">
            <a:solidFill>
              <a:srgbClr val="C8DDD0"/>
            </a:solidFill>
            <a:prstDash val="solid"/>
          </a:ln>
        </p:spPr>
      </p:sp>
      <p:sp>
        <p:nvSpPr>
          <p:cNvPr id="130" name="row_bg_3"/>
          <p:cNvSpPr/>
          <p:nvPr/>
        </p:nvSpPr>
        <p:spPr>
          <a:xfrm>
            <a:off x="7241540" y="3917315"/>
            <a:ext cx="4204335" cy="621665"/>
          </a:xfrm>
          <a:prstGeom prst="roundRect">
            <a:avLst>
              <a:gd name="adj" fmla="val 3000"/>
            </a:avLst>
          </a:prstGeom>
          <a:solidFill>
            <a:srgbClr val="F0F9F4"/>
          </a:solidFill>
          <a:ln w="10160">
            <a:solidFill>
              <a:srgbClr val="C8DDD0"/>
            </a:solidFill>
            <a:prstDash val="solid"/>
          </a:ln>
        </p:spPr>
      </p:sp>
      <p:sp>
        <p:nvSpPr>
          <p:cNvPr id="131" name="folder_name_3"/>
          <p:cNvSpPr/>
          <p:nvPr/>
        </p:nvSpPr>
        <p:spPr>
          <a:xfrm>
            <a:off x="7424420" y="4008755"/>
            <a:ext cx="912495" cy="292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8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img/</a:t>
            </a:r>
          </a:p>
        </p:txBody>
      </p:sp>
      <p:sp>
        <p:nvSpPr>
          <p:cNvPr id="132" name="folder_desc_3"/>
          <p:cNvSpPr/>
          <p:nvPr/>
        </p:nvSpPr>
        <p:spPr>
          <a:xfrm>
            <a:off x="8336915" y="4008755"/>
            <a:ext cx="2926080" cy="292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슬라이더 · 배너 · 상품 · 아이콘 에셋</a:t>
            </a:r>
          </a:p>
        </p:txBody>
      </p:sp>
      <p:sp>
        <p:nvSpPr>
          <p:cNvPr id="133" name="row_div_3"/>
          <p:cNvSpPr/>
          <p:nvPr/>
        </p:nvSpPr>
        <p:spPr>
          <a:xfrm>
            <a:off x="7332980" y="4612005"/>
            <a:ext cx="4021455" cy="0"/>
          </a:xfrm>
          <a:prstGeom prst="line">
            <a:avLst/>
          </a:prstGeom>
          <a:noFill/>
          <a:ln w="9144">
            <a:solidFill>
              <a:srgbClr val="C8DDD0"/>
            </a:solidFill>
            <a:prstDash val="solid"/>
          </a:ln>
        </p:spPr>
      </p:sp>
      <p:sp>
        <p:nvSpPr>
          <p:cNvPr id="140" name="row_bg_4"/>
          <p:cNvSpPr/>
          <p:nvPr/>
        </p:nvSpPr>
        <p:spPr>
          <a:xfrm>
            <a:off x="7241540" y="4869180"/>
            <a:ext cx="4204335" cy="621665"/>
          </a:xfrm>
          <a:prstGeom prst="roundRect">
            <a:avLst>
              <a:gd name="adj" fmla="val 3000"/>
            </a:avLst>
          </a:prstGeom>
          <a:solidFill>
            <a:srgbClr val="F5F0FF"/>
          </a:solidFill>
          <a:ln w="10160">
            <a:solidFill>
              <a:srgbClr val="D4B0E0"/>
            </a:solidFill>
            <a:prstDash val="solid"/>
          </a:ln>
        </p:spPr>
      </p:sp>
      <p:sp>
        <p:nvSpPr>
          <p:cNvPr id="141" name="folder_name_4"/>
          <p:cNvSpPr/>
          <p:nvPr/>
        </p:nvSpPr>
        <p:spPr>
          <a:xfrm>
            <a:off x="7424420" y="4960620"/>
            <a:ext cx="912495" cy="292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2D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portfolio/</a:t>
            </a:r>
          </a:p>
        </p:txBody>
      </p:sp>
      <p:sp>
        <p:nvSpPr>
          <p:cNvPr id="142" name="folder_desc_4"/>
          <p:cNvSpPr/>
          <p:nvPr/>
        </p:nvSpPr>
        <p:spPr>
          <a:xfrm>
            <a:off x="8336915" y="4960620"/>
            <a:ext cx="2926080" cy="2927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PPT/PDF 및 미리보기 자료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01168"/>
            <a:ext cx="10515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Page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74320" y="621792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쇼핑몰 화면 구성 — index.html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896112"/>
            <a:ext cx="11612880" cy="0"/>
          </a:xfrm>
          <a:prstGeom prst="line">
            <a:avLst/>
          </a:prstGeom>
          <a:noFill/>
          <a:ln w="15240">
            <a:solidFill>
              <a:srgbClr val="DCED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137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8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19456" y="969264"/>
            <a:ext cx="8193024" cy="5696712"/>
          </a:xfrm>
          <a:prstGeom prst="roundRect">
            <a:avLst>
              <a:gd name="adj" fmla="val 1605"/>
            </a:avLst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pic>
        <p:nvPicPr>
          <p:cNvPr id="7" name="Image 0" descr="/mnt/user-data/uploads/pulmuone-ma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6032" y="1005840"/>
            <a:ext cx="8119872" cy="5623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549640" y="1005840"/>
            <a:ext cx="3355848" cy="5623560"/>
          </a:xfrm>
          <a:prstGeom prst="roundRect">
            <a:avLst>
              <a:gd name="adj" fmla="val 2725"/>
            </a:avLst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50808" y="1316736"/>
            <a:ext cx="384048" cy="384048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50808" y="1316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262872" y="134416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Header / 검색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750808" y="1700784"/>
            <a:ext cx="30083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검색창과 카테고리 메뉴를 상단에 배치해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쇼핑몰 탐색 구조를 구성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750808" y="2926080"/>
            <a:ext cx="2953512" cy="0"/>
          </a:xfrm>
          <a:prstGeom prst="line">
            <a:avLst/>
          </a:prstGeom>
          <a:noFill/>
          <a:ln w="10160">
            <a:solidFill>
              <a:srgbClr val="C8E6C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750808" y="3054096"/>
            <a:ext cx="384048" cy="384048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750808" y="3054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262872" y="308152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Slider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750808" y="3438144"/>
            <a:ext cx="30083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슬라이더 배너를 JSON 데이터 기반으로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순차적으로 노출 · 자동재생 구현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750808" y="4663440"/>
            <a:ext cx="2953512" cy="0"/>
          </a:xfrm>
          <a:prstGeom prst="line">
            <a:avLst/>
          </a:prstGeom>
          <a:noFill/>
          <a:ln w="10160">
            <a:solidFill>
              <a:srgbClr val="C8E6C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750808" y="4791456"/>
            <a:ext cx="384048" cy="384048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750808" y="4791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9262872" y="481888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Quick Menu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750808" y="5175504"/>
            <a:ext cx="30083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카테고리에 빠르게 접근할 수 있도록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아이콘+텍스트 퀵메뉴 구성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01168"/>
            <a:ext cx="10515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Product Recommendation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74320" y="621792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추천 상품 섹션 — 고객님만을 위한 이상품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896112"/>
            <a:ext cx="11612880" cy="0"/>
          </a:xfrm>
          <a:prstGeom prst="line">
            <a:avLst/>
          </a:prstGeom>
          <a:noFill/>
          <a:ln w="15240">
            <a:solidFill>
              <a:srgbClr val="DCED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137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8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19456" y="969264"/>
            <a:ext cx="8193024" cy="5696712"/>
          </a:xfrm>
          <a:prstGeom prst="roundRect">
            <a:avLst>
              <a:gd name="adj" fmla="val 1605"/>
            </a:avLst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pic>
        <p:nvPicPr>
          <p:cNvPr id="7" name="Image 0" descr="/mnt/user-data/uploads/pulmuone-ai-recomme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6032" y="1005840"/>
            <a:ext cx="8119872" cy="5623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549640" y="1005840"/>
            <a:ext cx="3355848" cy="5623560"/>
          </a:xfrm>
          <a:prstGeom prst="roundRect">
            <a:avLst>
              <a:gd name="adj" fmla="val 2725"/>
            </a:avLst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50808" y="1316736"/>
            <a:ext cx="384048" cy="384048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50808" y="1316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262872" y="134416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카드 반복 렌더링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750808" y="1700784"/>
            <a:ext cx="30083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 상품 데이터를 카드 UI로 출력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구조를 forEach로 반복 생성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750808" y="2926080"/>
            <a:ext cx="2953512" cy="0"/>
          </a:xfrm>
          <a:prstGeom prst="line">
            <a:avLst/>
          </a:prstGeom>
          <a:noFill/>
          <a:ln w="10160">
            <a:solidFill>
              <a:srgbClr val="C8E6C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750808" y="3054096"/>
            <a:ext cx="384048" cy="384048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750808" y="3054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262872" y="308152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 / 리뷰 정보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750808" y="3438144"/>
            <a:ext cx="30083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상품명·할인율·가격·리뷰 수를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커머스 정보 구조에 맞게 배치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750808" y="4663440"/>
            <a:ext cx="2953512" cy="0"/>
          </a:xfrm>
          <a:prstGeom prst="line">
            <a:avLst/>
          </a:prstGeom>
          <a:noFill/>
          <a:ln w="10160">
            <a:solidFill>
              <a:srgbClr val="C8E6C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750808" y="4791456"/>
            <a:ext cx="384048" cy="384048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750808" y="4791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9262872" y="481888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찜 / 장바구니 아이콘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750808" y="5175504"/>
            <a:ext cx="30083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쇼핑몰 UI 패턴을 반영한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찜 활성 상태·장바구니 토스트 피드백 구현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01168"/>
            <a:ext cx="10515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Brand Section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74320" y="621792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풀무원의 모든 브랜드 — 브랜드 탭 + 상품 그리드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896112"/>
            <a:ext cx="11612880" cy="0"/>
          </a:xfrm>
          <a:prstGeom prst="line">
            <a:avLst/>
          </a:prstGeom>
          <a:noFill/>
          <a:ln w="15240">
            <a:solidFill>
              <a:srgbClr val="DCED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137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8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19456" y="969264"/>
            <a:ext cx="8193024" cy="5696712"/>
          </a:xfrm>
          <a:prstGeom prst="roundRect">
            <a:avLst>
              <a:gd name="adj" fmla="val 1605"/>
            </a:avLst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pic>
        <p:nvPicPr>
          <p:cNvPr id="7" name="Image 0" descr="/mnt/user-data/uploads/pulmuone-bra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6032" y="1005840"/>
            <a:ext cx="8119872" cy="5623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549640" y="1005840"/>
            <a:ext cx="3355848" cy="5623560"/>
          </a:xfrm>
          <a:prstGeom prst="roundRect">
            <a:avLst>
              <a:gd name="adj" fmla="val 2725"/>
            </a:avLst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50808" y="1316736"/>
            <a:ext cx="384048" cy="384048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50808" y="1316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262872" y="134416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탭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750808" y="1700784"/>
            <a:ext cx="30083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아임리얼 등 브랜드별로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영역을 탭으로 구분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750808" y="2926080"/>
            <a:ext cx="2953512" cy="0"/>
          </a:xfrm>
          <a:prstGeom prst="line">
            <a:avLst/>
          </a:prstGeom>
          <a:noFill/>
          <a:ln w="10160">
            <a:solidFill>
              <a:srgbClr val="C8E6C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750808" y="3054096"/>
            <a:ext cx="384048" cy="384048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750808" y="3054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262872" y="308152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카드 그리드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750808" y="3438144"/>
            <a:ext cx="30083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브랜드 상품을 그리드 레이아웃으로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구성·반복 렌더링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750808" y="4663440"/>
            <a:ext cx="2953512" cy="0"/>
          </a:xfrm>
          <a:prstGeom prst="line">
            <a:avLst/>
          </a:prstGeom>
          <a:noFill/>
          <a:ln w="10160">
            <a:solidFill>
              <a:srgbClr val="C8E6C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750808" y="4791456"/>
            <a:ext cx="384048" cy="384048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750808" y="4791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9262872" y="481888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대표 배너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750808" y="5175504"/>
            <a:ext cx="30083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이미지와 설명을 상단에 배치해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무드를 시각적으로 전달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01168"/>
            <a:ext cx="10515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Product Detail Page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74320" y="621792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상세 페이지 — sub.html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896112"/>
            <a:ext cx="11612880" cy="0"/>
          </a:xfrm>
          <a:prstGeom prst="line">
            <a:avLst/>
          </a:prstGeom>
          <a:noFill/>
          <a:ln w="15240">
            <a:solidFill>
              <a:srgbClr val="DCED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137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8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19456" y="969264"/>
            <a:ext cx="8193024" cy="5696712"/>
          </a:xfrm>
          <a:prstGeom prst="roundRect">
            <a:avLst>
              <a:gd name="adj" fmla="val 1605"/>
            </a:avLst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pic>
        <p:nvPicPr>
          <p:cNvPr id="7" name="Image 0" descr="/mnt/user-data/uploads/pulmuone-detai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6032" y="1005840"/>
            <a:ext cx="8119872" cy="5623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549640" y="1005840"/>
            <a:ext cx="3355848" cy="5623560"/>
          </a:xfrm>
          <a:prstGeom prst="roundRect">
            <a:avLst>
              <a:gd name="adj" fmla="val 2725"/>
            </a:avLst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50808" y="1316736"/>
            <a:ext cx="384048" cy="384048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50808" y="1316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262872" y="134416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대표 이미지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750808" y="1700784"/>
            <a:ext cx="30083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페이지 핵심 시각 정보로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이미지 + 썸네일 갤러리 구성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750808" y="2926080"/>
            <a:ext cx="2953512" cy="0"/>
          </a:xfrm>
          <a:prstGeom prst="line">
            <a:avLst/>
          </a:prstGeom>
          <a:noFill/>
          <a:ln w="10160">
            <a:solidFill>
              <a:srgbClr val="C8E6C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750808" y="3054096"/>
            <a:ext cx="384048" cy="384048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750808" y="3054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262872" y="308152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정보 영역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750808" y="3438144"/>
            <a:ext cx="30083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상품명·가격·원산지·배송정보를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sub.json 데이터로 동적 렌더링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750808" y="4663440"/>
            <a:ext cx="2953512" cy="0"/>
          </a:xfrm>
          <a:prstGeom prst="line">
            <a:avLst/>
          </a:prstGeom>
          <a:noFill/>
          <a:ln w="10160">
            <a:solidFill>
              <a:srgbClr val="C8E6C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750808" y="4791456"/>
            <a:ext cx="384048" cy="384048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750808" y="4791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9262872" y="481888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 CTA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750808" y="5175504"/>
            <a:ext cx="30083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장바구니 / 로그인 후 구매하기 버튼을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 정보 하단에 명확히 배치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01168"/>
            <a:ext cx="10515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Quantity &amp; Total Price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74320" y="621792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수량 변경 → 총액 자동 계산 기능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896112"/>
            <a:ext cx="11612880" cy="0"/>
          </a:xfrm>
          <a:prstGeom prst="line">
            <a:avLst/>
          </a:prstGeom>
          <a:noFill/>
          <a:ln w="15240">
            <a:solidFill>
              <a:srgbClr val="DCED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137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8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19456" y="969264"/>
            <a:ext cx="8193024" cy="5696712"/>
          </a:xfrm>
          <a:prstGeom prst="roundRect">
            <a:avLst>
              <a:gd name="adj" fmla="val 1605"/>
            </a:avLst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pic>
        <p:nvPicPr>
          <p:cNvPr id="7" name="Image 0" descr="/mnt/user-data/uploads/pulmuone-detail-cal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6032" y="1005840"/>
            <a:ext cx="8119872" cy="5623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549640" y="1005840"/>
            <a:ext cx="3355848" cy="5623560"/>
          </a:xfrm>
          <a:prstGeom prst="roundRect">
            <a:avLst>
              <a:gd name="adj" fmla="val 2725"/>
            </a:avLst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50808" y="1316736"/>
            <a:ext cx="384048" cy="384048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50808" y="1316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262872" y="134416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수량 변경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750808" y="1700784"/>
            <a:ext cx="30083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/ - 버튼 클릭으로 개수 조절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최솟값 1 미만은 감소 차단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750808" y="2926080"/>
            <a:ext cx="2953512" cy="0"/>
          </a:xfrm>
          <a:prstGeom prst="line">
            <a:avLst/>
          </a:prstGeom>
          <a:noFill/>
          <a:ln w="10160">
            <a:solidFill>
              <a:srgbClr val="C8E6C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750808" y="3054096"/>
            <a:ext cx="384048" cy="384048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750808" y="3054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262872" y="308152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총액 자동 계산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750808" y="3438144"/>
            <a:ext cx="30083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수량 × 단가를 실시간으로 계산해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상품금액에 즉시 반영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750808" y="4663440"/>
            <a:ext cx="2953512" cy="0"/>
          </a:xfrm>
          <a:prstGeom prst="line">
            <a:avLst/>
          </a:prstGeom>
          <a:noFill/>
          <a:ln w="10160">
            <a:solidFill>
              <a:srgbClr val="C8E6C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750808" y="4791456"/>
            <a:ext cx="384048" cy="384048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750808" y="4791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9262872" y="481888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 버튼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750808" y="5175504"/>
            <a:ext cx="30083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계산된 금액과 함께 장바구니·구매 버튼으로</a:t>
            </a:r>
            <a:endParaRPr lang="en-US" sz="11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 흐름을 자연스럽게 연결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01295"/>
            <a:ext cx="10515600" cy="475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Code Decision 01  —  JSON 데이터 기반 상품 렌더링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713105"/>
            <a:ext cx="11612880" cy="0"/>
          </a:xfrm>
          <a:prstGeom prst="line">
            <a:avLst/>
          </a:prstGeom>
          <a:noFill/>
          <a:ln w="15240">
            <a:solidFill>
              <a:srgbClr val="DCED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92840" y="137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8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400" dirty="0"/>
          </a:p>
        </p:txBody>
      </p:sp>
      <p:sp>
        <p:nvSpPr>
          <p:cNvPr id="5" name="Shape 3"/>
          <p:cNvSpPr>
            <a:spLocks/>
          </p:cNvSpPr>
          <p:nvPr/>
        </p:nvSpPr>
        <p:spPr>
          <a:xfrm rot="0">
            <a:off x="111760" y="981710"/>
            <a:ext cx="3314065" cy="5800090"/>
          </a:xfrm>
          <a:prstGeom prst="roundRect">
            <a:avLst>
              <a:gd name="adj" fmla="val 1961"/>
            </a:avLst>
          </a:prstGeom>
          <a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0" t="0" r="0" b="0"/>
            </a:stretch>
          </a:blipFill>
          <a:ln w="12700" cap="flat" cmpd="sng">
            <a:solidFill>
              <a:srgbClr val="2D4A5A">
                <a:alpha val="100000"/>
              </a:srgbClr>
            </a:solidFill>
            <a:prstDash val="solid"/>
          </a:ln>
          <a:effectLst>
            <a:outerShdw sx="100000" sy="100000" blurRad="76200" dist="25400" dir="2700000" rotWithShape="0" algn="bl">
              <a:srgbClr val="000000">
                <a:alpha val="6666"/>
              </a:srgbClr>
            </a:outerShdw>
          </a:effectLst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6" name="Text 4"/>
          <p:cNvSpPr>
            <a:spLocks/>
          </p:cNvSpPr>
          <p:nvPr/>
        </p:nvSpPr>
        <p:spPr>
          <a:xfrm rot="0">
            <a:off x="421005" y="727710"/>
            <a:ext cx="6163945" cy="27495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>
              <a:buFontTx/>
              <a:buNone/>
            </a:pPr>
            <a:r>
              <a:rPr lang="en-US" sz="1100" b="1">
                <a:solidFill>
                  <a:schemeClr val="accent6"/>
                </a:solidFill>
                <a:latin typeface="Courier New" charset="0"/>
                <a:ea typeface="Courier New" charset="0"/>
                <a:cs typeface="Courier New" charset="0"/>
              </a:rPr>
              <a:t>js/01_fetch_recommend.js</a:t>
            </a:r>
            <a:endParaRPr lang="ko-KR" altLang="en-US" sz="1100" b="1">
              <a:solidFill>
                <a:schemeClr val="accent6"/>
              </a:solidFill>
              <a:latin typeface="Courier New" charset="0"/>
              <a:ea typeface="Courier New" charset="0"/>
              <a:cs typeface="Courier New" charset="0"/>
            </a:endParaRPr>
          </a:p>
        </p:txBody>
      </p:sp>
      <p:cxnSp>
        <p:nvCxnSpPr>
          <p:cNvPr id="7" name="Shape 5"/>
          <p:cNvCxnSpPr/>
          <p:nvPr/>
        </p:nvCxnSpPr>
        <p:spPr>
          <a:xfrm rot="0">
            <a:off x="311785" y="1000760"/>
            <a:ext cx="6163945" cy="635"/>
          </a:xfrm>
          <a:prstGeom prst="line"/>
          <a:noFill/>
          <a:ln w="12700" cap="flat" cmpd="sng">
            <a:solidFill>
              <a:srgbClr val="2D4A5A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hape 7"/>
          <p:cNvSpPr/>
          <p:nvPr/>
        </p:nvSpPr>
        <p:spPr>
          <a:xfrm>
            <a:off x="7150735" y="1024255"/>
            <a:ext cx="4736465" cy="2286000"/>
          </a:xfrm>
          <a:prstGeom prst="roundRect">
            <a:avLst>
              <a:gd name="adj" fmla="val 4000"/>
            </a:avLst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pic>
        <p:nvPicPr>
          <p:cNvPr id="10" name="Image 0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50735" y="1024255"/>
            <a:ext cx="4736465" cy="22860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150735" y="3547745"/>
            <a:ext cx="328930" cy="32893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50735" y="3547745"/>
            <a:ext cx="328930" cy="3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571105" y="3566160"/>
            <a:ext cx="4260850" cy="255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데이터와 HTML 분리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571105" y="3858895"/>
            <a:ext cx="4260850" cy="475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정보는 JSON에, 화면 구조는 JS로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완전히 분리해 역할을 명확히 구분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242175" y="4443730"/>
            <a:ext cx="4572000" cy="0"/>
          </a:xfrm>
          <a:prstGeom prst="line">
            <a:avLst/>
          </a:prstGeom>
          <a:noFill/>
          <a:ln w="10160">
            <a:solidFill>
              <a:srgbClr val="E0E0E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150735" y="4572000"/>
            <a:ext cx="328930" cy="32893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50735" y="4572000"/>
            <a:ext cx="328930" cy="3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571105" y="4590415"/>
            <a:ext cx="4260850" cy="255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카드 구조 반복 출력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571105" y="4883150"/>
            <a:ext cx="4260850" cy="475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forEach + template literal로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UI를 데이터 개수만큼 생성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7242175" y="5467985"/>
            <a:ext cx="4572000" cy="0"/>
          </a:xfrm>
          <a:prstGeom prst="line">
            <a:avLst/>
          </a:prstGeom>
          <a:noFill/>
          <a:ln w="10160">
            <a:solidFill>
              <a:srgbClr val="E0E0E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150735" y="5596255"/>
            <a:ext cx="328930" cy="32893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150735" y="5596255"/>
            <a:ext cx="328930" cy="3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571105" y="5614670"/>
            <a:ext cx="4260850" cy="255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수정 = 화면 수정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571105" y="5906770"/>
            <a:ext cx="4260850" cy="475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JSON만 수정하면 화면에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반영되는 유지보수 구조</a:t>
            </a:r>
            <a:endParaRPr lang="en-US" sz="1150" dirty="0"/>
          </a:p>
        </p:txBody>
      </p:sp>
      <p:sp>
        <p:nvSpPr>
          <p:cNvPr id="25" name="도형 4"/>
          <p:cNvSpPr>
            <a:spLocks/>
          </p:cNvSpPr>
          <p:nvPr/>
        </p:nvSpPr>
        <p:spPr>
          <a:xfrm rot="0">
            <a:off x="3540125" y="970915"/>
            <a:ext cx="3542030" cy="5810885"/>
          </a:xfrm>
          <a:prstGeom prst="roundRect">
            <a:avLst>
              <a:gd name="adj" fmla="val 1961"/>
            </a:avLst>
          </a:prstGeom>
          <a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0" t="0" r="0" b="0"/>
            </a:stretch>
          </a:blipFill>
          <a:ln w="12700" cap="flat" cmpd="sng">
            <a:solidFill>
              <a:srgbClr val="2D4A5A">
                <a:alpha val="100000"/>
              </a:srgbClr>
            </a:solidFill>
            <a:prstDash val="solid"/>
          </a:ln>
          <a:effectLst>
            <a:outerShdw sx="100000" sy="100000" blurRad="76200" dist="25400" dir="2700000" rotWithShape="0" algn="bl">
              <a:srgbClr val="000000">
                <a:alpha val="6666"/>
              </a:srgbClr>
            </a:outerShdw>
          </a:effectLst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01295"/>
            <a:ext cx="10515600" cy="475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Code Decision 02  —  메인 슬라이더 구현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713105"/>
            <a:ext cx="11612880" cy="0"/>
          </a:xfrm>
          <a:prstGeom prst="line">
            <a:avLst/>
          </a:prstGeom>
          <a:noFill/>
          <a:ln w="15240">
            <a:solidFill>
              <a:srgbClr val="DCED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92840" y="137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8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400" dirty="0"/>
          </a:p>
        </p:txBody>
      </p:sp>
      <p:sp>
        <p:nvSpPr>
          <p:cNvPr id="5" name="Shape 3"/>
          <p:cNvSpPr>
            <a:spLocks/>
          </p:cNvSpPr>
          <p:nvPr/>
        </p:nvSpPr>
        <p:spPr>
          <a:xfrm rot="0">
            <a:off x="274320" y="1008380"/>
            <a:ext cx="6675755" cy="4326890"/>
          </a:xfrm>
          <a:prstGeom prst="roundRect">
            <a:avLst>
              <a:gd name="adj" fmla="val 1961"/>
            </a:avLst>
          </a:prstGeom>
          <a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0" t="0" r="0" b="0"/>
            </a:stretch>
          </a:blipFill>
          <a:ln w="12700" cap="flat" cmpd="sng">
            <a:solidFill>
              <a:srgbClr val="2D4A5A">
                <a:alpha val="100000"/>
              </a:srgbClr>
            </a:solidFill>
            <a:prstDash val="solid"/>
          </a:ln>
          <a:effectLst>
            <a:outerShdw sx="100000" sy="100000" blurRad="76200" dist="25400" dir="2700000" rotWithShape="0" algn="bl">
              <a:srgbClr val="000000">
                <a:alpha val="6666"/>
              </a:srgbClr>
            </a:outerShdw>
          </a:effectLst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6" name="Text 4"/>
          <p:cNvSpPr>
            <a:spLocks/>
          </p:cNvSpPr>
          <p:nvPr/>
        </p:nvSpPr>
        <p:spPr>
          <a:xfrm rot="0">
            <a:off x="405765" y="727075"/>
            <a:ext cx="6163945" cy="27495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>
              <a:buFontTx/>
              <a:buNone/>
            </a:pPr>
            <a:r>
              <a:rPr lang="en-US" sz="1100" b="1">
                <a:solidFill>
                  <a:schemeClr val="accent6"/>
                </a:solidFill>
                <a:latin typeface="Courier New" charset="0"/>
                <a:ea typeface="Courier New" charset="0"/>
                <a:cs typeface="Courier New" charset="0"/>
              </a:rPr>
              <a:t>js/slider.js</a:t>
            </a:r>
            <a:endParaRPr lang="ko-KR" altLang="en-US" sz="1100" b="1">
              <a:solidFill>
                <a:schemeClr val="accent6"/>
              </a:solidFill>
              <a:latin typeface="Courier New" charset="0"/>
              <a:ea typeface="Courier New" charset="0"/>
              <a:cs typeface="Courier New" charset="0"/>
            </a:endParaRPr>
          </a:p>
        </p:txBody>
      </p:sp>
      <p:cxnSp>
        <p:nvCxnSpPr>
          <p:cNvPr id="7" name="Shape 5"/>
          <p:cNvCxnSpPr/>
          <p:nvPr/>
        </p:nvCxnSpPr>
        <p:spPr>
          <a:xfrm rot="0">
            <a:off x="405130" y="1000760"/>
            <a:ext cx="6163945" cy="635"/>
          </a:xfrm>
          <a:prstGeom prst="line"/>
          <a:noFill/>
          <a:ln w="12700" cap="flat" cmpd="sng">
            <a:solidFill>
              <a:srgbClr val="2D4A5A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hape 7"/>
          <p:cNvSpPr/>
          <p:nvPr/>
        </p:nvSpPr>
        <p:spPr>
          <a:xfrm>
            <a:off x="7150735" y="1024255"/>
            <a:ext cx="4736465" cy="1390015"/>
          </a:xfrm>
          <a:prstGeom prst="roundRect">
            <a:avLst>
              <a:gd name="adj" fmla="val 6579"/>
            </a:avLst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AF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 흐름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23760" y="1417320"/>
            <a:ext cx="822960" cy="749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 로드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119745" y="1417320"/>
            <a:ext cx="822960" cy="749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4CAF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015730" y="1417320"/>
            <a:ext cx="822960" cy="749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슬라이드 생성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912350" y="1417320"/>
            <a:ext cx="822960" cy="749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4CAF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808335" y="1417320"/>
            <a:ext cx="822960" cy="749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자동재생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50735" y="2633345"/>
            <a:ext cx="328930" cy="32893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50735" y="2633345"/>
            <a:ext cx="328930" cy="3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571105" y="2651760"/>
            <a:ext cx="4260850" cy="255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반응형 슬라이더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571105" y="2944495"/>
            <a:ext cx="4260850" cy="475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너비에 따라 1·2·3개 표시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getVisibleCount()로 실시간 전환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242175" y="3529330"/>
            <a:ext cx="4572000" cy="0"/>
          </a:xfrm>
          <a:prstGeom prst="line">
            <a:avLst/>
          </a:prstGeom>
          <a:noFill/>
          <a:ln w="10160">
            <a:solidFill>
              <a:srgbClr val="E0E0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50735" y="3657600"/>
            <a:ext cx="328930" cy="32893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50735" y="3657600"/>
            <a:ext cx="328930" cy="3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571105" y="3676015"/>
            <a:ext cx="4260850" cy="255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async/await 초기화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571105" y="3968750"/>
            <a:ext cx="4260850" cy="475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 fetch 완료 후 DOM 생성 보장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없이 렌더링 방지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242175" y="4553585"/>
            <a:ext cx="4572000" cy="0"/>
          </a:xfrm>
          <a:prstGeom prst="line">
            <a:avLst/>
          </a:prstGeom>
          <a:noFill/>
          <a:ln w="10160">
            <a:solidFill>
              <a:srgbClr val="E0E0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50735" y="4681855"/>
            <a:ext cx="328930" cy="32893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50735" y="4681855"/>
            <a:ext cx="328930" cy="3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571105" y="4700270"/>
            <a:ext cx="4260850" cy="255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자동재생 제어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571105" y="4992370"/>
            <a:ext cx="4260850" cy="475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setInterval 3초 자동 전환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재생/정지 버튼으로 사용자 제어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150735" y="5650865"/>
            <a:ext cx="4736465" cy="255905"/>
          </a:xfrm>
          <a:prstGeom prst="roundRect">
            <a:avLst>
              <a:gd name="adj" fmla="val 17857"/>
            </a:avLst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50735" y="5650865"/>
            <a:ext cx="4736465" cy="255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88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"정적 배너가 아닌 데이터 기반 자동 슬라이더로 구현"</a:t>
            </a:r>
            <a:endParaRPr lang="en-US" sz="1050" dirty="0"/>
          </a:p>
        </p:txBody>
      </p:sp>
      <p:sp>
        <p:nvSpPr>
          <p:cNvPr id="32" name="도형 7"/>
          <p:cNvSpPr>
            <a:spLocks/>
          </p:cNvSpPr>
          <p:nvPr/>
        </p:nvSpPr>
        <p:spPr>
          <a:xfrm rot="0">
            <a:off x="283845" y="5365750"/>
            <a:ext cx="6675755" cy="1429385"/>
          </a:xfrm>
          <a:prstGeom prst="roundRect">
            <a:avLst>
              <a:gd name="adj" fmla="val 1961"/>
            </a:avLst>
          </a:prstGeom>
          <a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0" t="0" r="0" b="0"/>
            </a:stretch>
          </a:blipFill>
          <a:ln w="12700" cap="flat" cmpd="sng">
            <a:solidFill>
              <a:srgbClr val="2D4A5A">
                <a:alpha val="100000"/>
              </a:srgbClr>
            </a:solidFill>
            <a:prstDash val="solid"/>
          </a:ln>
          <a:effectLst>
            <a:outerShdw sx="100000" sy="100000" blurRad="76200" dist="25400" dir="2700000" rotWithShape="0" algn="bl">
              <a:srgbClr val="000000">
                <a:alpha val="6666"/>
              </a:srgbClr>
            </a:outerShdw>
          </a:effectLst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01295"/>
            <a:ext cx="10515600" cy="475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Code Decision 03  —  상품 상세 수량 · 총액 계산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713105"/>
            <a:ext cx="11612880" cy="0"/>
          </a:xfrm>
          <a:prstGeom prst="line">
            <a:avLst/>
          </a:prstGeom>
          <a:noFill/>
          <a:ln w="15240">
            <a:solidFill>
              <a:srgbClr val="DCED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92840" y="137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8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400" dirty="0"/>
          </a:p>
        </p:txBody>
      </p:sp>
      <p:sp>
        <p:nvSpPr>
          <p:cNvPr id="5" name="Shape 3"/>
          <p:cNvSpPr>
            <a:spLocks/>
          </p:cNvSpPr>
          <p:nvPr/>
        </p:nvSpPr>
        <p:spPr>
          <a:xfrm rot="0">
            <a:off x="274320" y="977265"/>
            <a:ext cx="6675755" cy="5596890"/>
          </a:xfrm>
          <a:prstGeom prst="roundRect">
            <a:avLst>
              <a:gd name="adj" fmla="val 1961"/>
            </a:avLst>
          </a:prstGeom>
          <a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0" t="0" r="0" b="0"/>
            </a:stretch>
          </a:blipFill>
          <a:ln w="12700" cap="flat" cmpd="sng">
            <a:solidFill>
              <a:srgbClr val="2D4A5A">
                <a:alpha val="100000"/>
              </a:srgbClr>
            </a:solidFill>
            <a:prstDash val="solid"/>
          </a:ln>
          <a:effectLst>
            <a:outerShdw sx="100000" sy="100000" blurRad="76200" dist="25400" dir="2700000" rotWithShape="0" algn="bl">
              <a:srgbClr val="000000">
                <a:alpha val="6666"/>
              </a:srgbClr>
            </a:outerShdw>
          </a:effectLst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6" name="Text 4"/>
          <p:cNvSpPr>
            <a:spLocks/>
          </p:cNvSpPr>
          <p:nvPr/>
        </p:nvSpPr>
        <p:spPr>
          <a:xfrm rot="0">
            <a:off x="467995" y="664845"/>
            <a:ext cx="6163945" cy="27495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>
              <a:buFontTx/>
              <a:buNone/>
            </a:pPr>
            <a:r>
              <a:rPr lang="en-US" sz="1100" b="1">
                <a:solidFill>
                  <a:schemeClr val="accent6"/>
                </a:solidFill>
                <a:latin typeface="Courier New" charset="0"/>
                <a:ea typeface="Courier New" charset="0"/>
                <a:cs typeface="Courier New" charset="0"/>
              </a:rPr>
              <a:t>js/sub.js — renderOrderBox()</a:t>
            </a:r>
            <a:r>
              <a:rPr lang="en-US" sz="1300" b="1">
                <a:solidFill>
                  <a:schemeClr val="accent6"/>
                </a:solidFill>
                <a:latin typeface="Courier New" charset="0"/>
                <a:ea typeface="Courier New" charset="0"/>
                <a:cs typeface="Courier New" charset="0"/>
              </a:rPr>
              <a:t>// 수량 변경 → 총액 자동 계산</a:t>
            </a:r>
            <a:endParaRPr lang="ko-KR" altLang="en-US" sz="1100" b="1">
              <a:solidFill>
                <a:schemeClr val="accent6"/>
              </a:solidFill>
              <a:latin typeface="Courier New" charset="0"/>
              <a:ea typeface="Courier New" charset="0"/>
              <a:cs typeface="Courier New" charset="0"/>
            </a:endParaRPr>
          </a:p>
        </p:txBody>
      </p:sp>
      <p:cxnSp>
        <p:nvCxnSpPr>
          <p:cNvPr id="7" name="Shape 5"/>
          <p:cNvCxnSpPr/>
          <p:nvPr/>
        </p:nvCxnSpPr>
        <p:spPr>
          <a:xfrm rot="0">
            <a:off x="405130" y="938530"/>
            <a:ext cx="6163945" cy="635"/>
          </a:xfrm>
          <a:prstGeom prst="line"/>
          <a:noFill/>
          <a:ln w="12700" cap="flat" cmpd="sng">
            <a:solidFill>
              <a:srgbClr val="2D4A5A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hape 7"/>
          <p:cNvSpPr/>
          <p:nvPr/>
        </p:nvSpPr>
        <p:spPr>
          <a:xfrm>
            <a:off x="7150735" y="1024255"/>
            <a:ext cx="4736465" cy="2286000"/>
          </a:xfrm>
          <a:prstGeom prst="roundRect">
            <a:avLst>
              <a:gd name="adj" fmla="val 4000"/>
            </a:avLst>
          </a:prstGeom>
          <a:solidFill>
            <a:srgbClr val="F0F0F0"/>
          </a:solidFill>
          <a:ln w="12700">
            <a:solidFill>
              <a:srgbClr val="E0E0E0"/>
            </a:solidFill>
            <a:prstDash val="solid"/>
          </a:ln>
        </p:spPr>
      </p:sp>
      <p:pic>
        <p:nvPicPr>
          <p:cNvPr id="10" name="Image 0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50735" y="1024255"/>
            <a:ext cx="4736465" cy="22860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150735" y="3547745"/>
            <a:ext cx="328930" cy="32893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50735" y="3547745"/>
            <a:ext cx="328930" cy="3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571105" y="3566160"/>
            <a:ext cx="4260850" cy="255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수량 변경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571105" y="3858895"/>
            <a:ext cx="4260850" cy="475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minusBtn / plusBtn 이벤트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quantity 증감 후 updateTotal 호출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242175" y="4443730"/>
            <a:ext cx="4572000" cy="0"/>
          </a:xfrm>
          <a:prstGeom prst="line">
            <a:avLst/>
          </a:prstGeom>
          <a:noFill/>
          <a:ln w="10160">
            <a:solidFill>
              <a:srgbClr val="E0E0E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150735" y="4572000"/>
            <a:ext cx="328930" cy="32893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50735" y="4572000"/>
            <a:ext cx="328930" cy="3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571105" y="4590415"/>
            <a:ext cx="4260850" cy="255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총액 자동 계산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571105" y="4883150"/>
            <a:ext cx="4260850" cy="475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unitPrice × quantity를 실시간 계산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formatPrice()로 천단위 콤마 처리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7242175" y="5467985"/>
            <a:ext cx="4572000" cy="0"/>
          </a:xfrm>
          <a:prstGeom prst="line">
            <a:avLst/>
          </a:prstGeom>
          <a:noFill/>
          <a:ln w="10160">
            <a:solidFill>
              <a:srgbClr val="E0E0E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150735" y="5596255"/>
            <a:ext cx="328930" cy="32893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150735" y="5596255"/>
            <a:ext cx="328930" cy="3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571105" y="5614670"/>
            <a:ext cx="4260850" cy="255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최솟값 제어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571105" y="5906770"/>
            <a:ext cx="4260850" cy="475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수량이 1 미만으로 내려가지 않도록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if (quantity &gt; 1) 조건 체크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01168"/>
            <a:ext cx="10515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Retrospective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74320" y="621792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프로젝트를 통해 배운 것들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896112"/>
            <a:ext cx="11612880" cy="0"/>
          </a:xfrm>
          <a:prstGeom prst="line">
            <a:avLst/>
          </a:prstGeom>
          <a:noFill/>
          <a:ln w="15240">
            <a:solidFill>
              <a:srgbClr val="DCED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92840" y="137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8E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11612880" cy="1691640"/>
          </a:xfrm>
          <a:prstGeom prst="roundRect">
            <a:avLst>
              <a:gd name="adj" fmla="val 6486"/>
            </a:avLst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73352"/>
            <a:ext cx="502920" cy="50292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73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15568" y="1188720"/>
            <a:ext cx="10533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UI와 클릭 피드백은 공통 모듈로 관리하면 쉽다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15568" y="1581912"/>
            <a:ext cx="1053388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캐러셀, 검색, 탭, 찜/장바구니 피드백을 product_interactions.js로 묶어 관리했습니다. 동적으로 생성되는 카드에도 같은 이벤트가 적용되도록 공통 이벤트 구조의 장점을 체감했습니다.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74320" y="2907792"/>
            <a:ext cx="11612880" cy="1691640"/>
          </a:xfrm>
          <a:prstGeom prst="roundRect">
            <a:avLst>
              <a:gd name="adj" fmla="val 6486"/>
            </a:avLst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502152"/>
            <a:ext cx="502920" cy="50292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502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15568" y="3017520"/>
            <a:ext cx="10533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CSS는 역할별로 나누면 수정이 훨씬 쉬워진다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15568" y="3410712"/>
            <a:ext cx="1053388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처음에는 모든 스타일을 한 파일에 작성했지만, 어떤 속성이 어디에 있는지 찾기 어려웠습니다. reset / common / layout / 페이지별로 분리한 이후 원하는 스타일을 빠르게 수정할 수 있었습니다.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74320" y="4736592"/>
            <a:ext cx="11612880" cy="1691640"/>
          </a:xfrm>
          <a:prstGeom prst="roundRect">
            <a:avLst>
              <a:gd name="adj" fmla="val 6486"/>
            </a:avLst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5330952"/>
            <a:ext cx="502920" cy="50292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5330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15568" y="4846320"/>
            <a:ext cx="10533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반응형은 단순 축소가 아니라 재배치 전략이다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15568" y="5239512"/>
            <a:ext cx="1053388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처음에는 width만 줄이면 자동으로 대응될 거라고 생각했습니다. 실제로는 상품 열 수, 이미지 비율, 여백이 각각 별도로 설계되어야 함을 미디어쿼리를 적용하면서 배웠습니다.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01295"/>
            <a:ext cx="10515600" cy="475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Code Decision 04  —  공통 인터랙션 모듈</a:t>
            </a:r>
          </a:p>
        </p:txBody>
      </p:sp>
      <p:sp>
        <p:nvSpPr>
          <p:cNvPr id="3" name="Shape line"/>
          <p:cNvSpPr/>
          <p:nvPr/>
        </p:nvSpPr>
        <p:spPr>
          <a:xfrm>
            <a:off x="274320" y="713105"/>
            <a:ext cx="11612880" cy="0"/>
          </a:xfrm>
          <a:prstGeom prst="line">
            <a:avLst/>
          </a:prstGeom>
          <a:noFill/>
          <a:ln w="15240">
            <a:solidFill>
              <a:srgbClr val="C8DDD0"/>
            </a:solidFill>
            <a:prstDash val="solid"/>
          </a:ln>
        </p:spPr>
      </p:sp>
      <p:sp>
        <p:nvSpPr>
          <p:cNvPr id="4" name="Text pagenum"/>
          <p:cNvSpPr/>
          <p:nvPr/>
        </p:nvSpPr>
        <p:spPr>
          <a:xfrm>
            <a:off x="11292840" y="137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8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</a:p>
        </p:txBody>
      </p:sp>
      <p:sp>
        <p:nvSpPr>
          <p:cNvPr id="5" name="codebox"/>
          <p:cNvSpPr>
            <a:spLocks/>
          </p:cNvSpPr>
          <p:nvPr/>
        </p:nvSpPr>
        <p:spPr>
          <a:xfrm rot="0">
            <a:off x="207645" y="946785"/>
            <a:ext cx="6675755" cy="2196465"/>
          </a:xfrm>
          <a:prstGeom prst="roundRect">
            <a:avLst>
              <a:gd name="adj" fmla="val 1961"/>
            </a:avLst>
          </a:prstGeom>
          <a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0" t="0" r="0" b="0"/>
            </a:stretch>
          </a:blipFill>
          <a:ln w="12700" cap="flat" cmpd="sng">
            <a:solidFill>
              <a:srgbClr val="263350">
                <a:alpha val="100000"/>
              </a:srgbClr>
            </a:solidFill>
            <a:prstDash val="solid"/>
          </a:ln>
          <a:effectLst>
            <a:outerShdw sx="100000" sy="100000" blurRad="76200" dist="25400" dir="2700000" rotWithShape="0" algn="bl">
              <a:srgbClr val="000000">
                <a:alpha val="6666"/>
              </a:srgbClr>
            </a:outerShdw>
          </a:effectLst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6" name="filelabel"/>
          <p:cNvSpPr>
            <a:spLocks/>
          </p:cNvSpPr>
          <p:nvPr/>
        </p:nvSpPr>
        <p:spPr>
          <a:xfrm rot="0">
            <a:off x="342900" y="727710"/>
            <a:ext cx="6163945" cy="220980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>
              <a:buFontTx/>
              <a:buNone/>
            </a:pPr>
            <a:r>
              <a:rPr lang="en-US" sz="1100" b="1">
                <a:solidFill>
                  <a:srgbClr val="9B72CF"/>
                </a:solidFill>
                <a:latin typeface="Courier New" charset="0"/>
                <a:ea typeface="Courier New" charset="0"/>
                <a:cs typeface="Courier New" charset="0"/>
              </a:rPr>
              <a:t>js/product_interactions.js</a:t>
            </a:r>
            <a:endParaRPr lang="ko-KR" altLang="en-US" sz="1100" b="1">
              <a:solidFill>
                <a:srgbClr val="9B72CF"/>
              </a:solidFill>
              <a:latin typeface="Courier New" charset="0"/>
              <a:ea typeface="Courier New" charset="0"/>
              <a:cs typeface="Courier New" charset="0"/>
            </a:endParaRPr>
          </a:p>
        </p:txBody>
      </p:sp>
      <p:sp>
        <p:nvSpPr>
          <p:cNvPr id="20" name="dot0"/>
          <p:cNvSpPr/>
          <p:nvPr/>
        </p:nvSpPr>
        <p:spPr>
          <a:xfrm>
            <a:off x="7150735" y="1024255"/>
            <a:ext cx="328930" cy="328930"/>
          </a:xfrm>
          <a:prstGeom prst="ellipse">
            <a:avLst/>
          </a:prstGeom>
          <a:solidFill>
            <a:srgbClr val="006838"/>
          </a:solidFill>
          <a:ln w="12700">
            <a:solidFill>
              <a:srgbClr val="006838"/>
            </a:solidFill>
            <a:prstDash val="solid"/>
          </a:ln>
        </p:spPr>
      </p:sp>
      <p:sp>
        <p:nvSpPr>
          <p:cNvPr id="21" name="dotnum0"/>
          <p:cNvSpPr/>
          <p:nvPr/>
        </p:nvSpPr>
        <p:spPr>
          <a:xfrm>
            <a:off x="7150735" y="1024255"/>
            <a:ext cx="328930" cy="3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</a:p>
        </p:txBody>
      </p:sp>
      <p:sp>
        <p:nvSpPr>
          <p:cNvPr id="22" name="point_label0"/>
          <p:cNvSpPr/>
          <p:nvPr/>
        </p:nvSpPr>
        <p:spPr>
          <a:xfrm>
            <a:off x="7571105" y="1042670"/>
            <a:ext cx="4260850" cy="255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모듈 분리</a:t>
            </a:r>
          </a:p>
        </p:txBody>
      </p:sp>
      <p:sp>
        <p:nvSpPr>
          <p:cNvPr id="23" name="point_desc0"/>
          <p:cNvSpPr/>
          <p:nvPr/>
        </p:nvSpPr>
        <p:spPr>
          <a:xfrm>
            <a:off x="7571105" y="1334770"/>
            <a:ext cx="4260850" cy="475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캐러셀 &lt; &gt; 버튼 로직을 setupSectionControls()로 공통화해 모든 섹션에서 재사용</a:t>
            </a:r>
          </a:p>
        </p:txBody>
      </p:sp>
      <p:sp>
        <p:nvSpPr>
          <p:cNvPr id="24" name="divline0"/>
          <p:cNvSpPr/>
          <p:nvPr/>
        </p:nvSpPr>
        <p:spPr>
          <a:xfrm>
            <a:off x="7242175" y="2448560"/>
            <a:ext cx="4572000" cy="0"/>
          </a:xfrm>
          <a:prstGeom prst="line">
            <a:avLst/>
          </a:prstGeom>
          <a:noFill/>
          <a:ln w="10160">
            <a:solidFill>
              <a:srgbClr val="E0E0E0"/>
            </a:solidFill>
            <a:prstDash val="solid"/>
          </a:ln>
        </p:spPr>
      </p:sp>
      <p:sp>
        <p:nvSpPr>
          <p:cNvPr id="25" name="dot1"/>
          <p:cNvSpPr/>
          <p:nvPr/>
        </p:nvSpPr>
        <p:spPr>
          <a:xfrm>
            <a:off x="7150735" y="2560320"/>
            <a:ext cx="328930" cy="328930"/>
          </a:xfrm>
          <a:prstGeom prst="ellipse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26" name="dotnum1"/>
          <p:cNvSpPr/>
          <p:nvPr/>
        </p:nvSpPr>
        <p:spPr>
          <a:xfrm>
            <a:off x="7150735" y="2560320"/>
            <a:ext cx="328930" cy="3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</a:p>
        </p:txBody>
      </p:sp>
      <p:sp>
        <p:nvSpPr>
          <p:cNvPr id="27" name="point_label1"/>
          <p:cNvSpPr/>
          <p:nvPr/>
        </p:nvSpPr>
        <p:spPr>
          <a:xfrm>
            <a:off x="7571105" y="2578735"/>
            <a:ext cx="4260850" cy="255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동적 카드 이벤트</a:t>
            </a:r>
          </a:p>
        </p:txBody>
      </p:sp>
      <p:sp>
        <p:nvSpPr>
          <p:cNvPr id="28" name="point_desc1"/>
          <p:cNvSpPr/>
          <p:nvPr/>
        </p:nvSpPr>
        <p:spPr>
          <a:xfrm>
            <a:off x="7571105" y="2871470"/>
            <a:ext cx="4260850" cy="475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JSON으로 렌더된 카드에도 MutationObserver로 이벤트 자동 적용</a:t>
            </a:r>
          </a:p>
        </p:txBody>
      </p:sp>
      <p:sp>
        <p:nvSpPr>
          <p:cNvPr id="29" name="divline1"/>
          <p:cNvSpPr/>
          <p:nvPr/>
        </p:nvSpPr>
        <p:spPr>
          <a:xfrm>
            <a:off x="7242175" y="3984625"/>
            <a:ext cx="4572000" cy="0"/>
          </a:xfrm>
          <a:prstGeom prst="line">
            <a:avLst/>
          </a:prstGeom>
          <a:noFill/>
          <a:ln w="10160">
            <a:solidFill>
              <a:srgbClr val="E0E0E0"/>
            </a:solidFill>
            <a:prstDash val="solid"/>
          </a:ln>
        </p:spPr>
      </p:sp>
      <p:sp>
        <p:nvSpPr>
          <p:cNvPr id="30" name="dot2"/>
          <p:cNvSpPr/>
          <p:nvPr/>
        </p:nvSpPr>
        <p:spPr>
          <a:xfrm>
            <a:off x="7150735" y="4096385"/>
            <a:ext cx="328930" cy="328930"/>
          </a:xfrm>
          <a:prstGeom prst="ellipse">
            <a:avLst/>
          </a:prstGeom>
          <a:solidFill>
            <a:srgbClr val="006838"/>
          </a:solidFill>
          <a:ln w="12700">
            <a:solidFill>
              <a:srgbClr val="006838"/>
            </a:solidFill>
            <a:prstDash val="solid"/>
          </a:ln>
        </p:spPr>
      </p:sp>
      <p:sp>
        <p:nvSpPr>
          <p:cNvPr id="31" name="dotnum2"/>
          <p:cNvSpPr/>
          <p:nvPr/>
        </p:nvSpPr>
        <p:spPr>
          <a:xfrm>
            <a:off x="7150735" y="4096385"/>
            <a:ext cx="328930" cy="3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</a:p>
        </p:txBody>
      </p:sp>
      <p:sp>
        <p:nvSpPr>
          <p:cNvPr id="32" name="point_label2"/>
          <p:cNvSpPr/>
          <p:nvPr/>
        </p:nvSpPr>
        <p:spPr>
          <a:xfrm>
            <a:off x="7571105" y="4114800"/>
            <a:ext cx="4260850" cy="255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토스트 피드백</a:t>
            </a:r>
          </a:p>
        </p:txBody>
      </p:sp>
      <p:sp>
        <p:nvSpPr>
          <p:cNvPr id="33" name="point_desc2"/>
          <p:cNvSpPr/>
          <p:nvPr/>
        </p:nvSpPr>
        <p:spPr>
          <a:xfrm>
            <a:off x="7571105" y="4407535"/>
            <a:ext cx="4260850" cy="475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찜·장바구니 클릭 피드백을 단일 토스트 함수로 통일해 일관된 UX 제공</a:t>
            </a:r>
          </a:p>
        </p:txBody>
      </p:sp>
      <p:sp>
        <p:nvSpPr>
          <p:cNvPr id="34" name="도형 13"/>
          <p:cNvSpPr>
            <a:spLocks/>
          </p:cNvSpPr>
          <p:nvPr/>
        </p:nvSpPr>
        <p:spPr>
          <a:xfrm rot="0">
            <a:off x="208280" y="3142615"/>
            <a:ext cx="6675755" cy="3650615"/>
          </a:xfrm>
          <a:prstGeom prst="roundRect">
            <a:avLst>
              <a:gd name="adj" fmla="val 1961"/>
            </a:avLst>
          </a:prstGeom>
          <a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0" t="0" r="0" b="0"/>
            </a:stretch>
          </a:blipFill>
          <a:ln w="12700" cap="flat" cmpd="sng">
            <a:solidFill>
              <a:srgbClr val="263350">
                <a:alpha val="100000"/>
              </a:srgbClr>
            </a:solidFill>
            <a:prstDash val="solid"/>
          </a:ln>
          <a:effectLst>
            <a:outerShdw sx="100000" sy="100000" blurRad="76200" dist="25400" dir="2700000" rotWithShape="0" algn="bl">
              <a:srgbClr val="000000">
                <a:alpha val="6666"/>
              </a:srgbClr>
            </a:outerShdw>
          </a:effectLst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01295"/>
            <a:ext cx="10515600" cy="475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Code Decision 05  —  검색 · 탭 · 헤더 피드백</a:t>
            </a:r>
          </a:p>
        </p:txBody>
      </p:sp>
      <p:sp>
        <p:nvSpPr>
          <p:cNvPr id="3" name="Shape line"/>
          <p:cNvSpPr/>
          <p:nvPr/>
        </p:nvSpPr>
        <p:spPr>
          <a:xfrm>
            <a:off x="274320" y="713105"/>
            <a:ext cx="11612880" cy="0"/>
          </a:xfrm>
          <a:prstGeom prst="line">
            <a:avLst/>
          </a:prstGeom>
          <a:noFill/>
          <a:ln w="15240">
            <a:solidFill>
              <a:srgbClr val="C8DDD0"/>
            </a:solidFill>
            <a:prstDash val="solid"/>
          </a:ln>
        </p:spPr>
      </p:sp>
      <p:sp>
        <p:nvSpPr>
          <p:cNvPr id="4" name="Text pagenum"/>
          <p:cNvSpPr/>
          <p:nvPr/>
        </p:nvSpPr>
        <p:spPr>
          <a:xfrm>
            <a:off x="11292840" y="137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8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</a:p>
        </p:txBody>
      </p:sp>
      <p:sp>
        <p:nvSpPr>
          <p:cNvPr id="5" name="codebox"/>
          <p:cNvSpPr>
            <a:spLocks/>
          </p:cNvSpPr>
          <p:nvPr/>
        </p:nvSpPr>
        <p:spPr>
          <a:xfrm rot="0">
            <a:off x="274320" y="980440"/>
            <a:ext cx="6675755" cy="2736215"/>
          </a:xfrm>
          <a:prstGeom prst="roundRect">
            <a:avLst>
              <a:gd name="adj" fmla="val 1961"/>
            </a:avLst>
          </a:prstGeom>
          <a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0" t="0" r="0" b="0"/>
            </a:stretch>
          </a:blipFill>
          <a:ln w="12700" cap="flat" cmpd="sng">
            <a:solidFill>
              <a:srgbClr val="263350">
                <a:alpha val="100000"/>
              </a:srgbClr>
            </a:solidFill>
            <a:prstDash val="solid"/>
          </a:ln>
          <a:effectLst>
            <a:outerShdw sx="100000" sy="100000" blurRad="76200" dist="25400" dir="2700000" rotWithShape="0" algn="bl">
              <a:srgbClr val="000000">
                <a:alpha val="6666"/>
              </a:srgbClr>
            </a:outerShdw>
          </a:effectLst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6" name="filelabel"/>
          <p:cNvSpPr>
            <a:spLocks/>
          </p:cNvSpPr>
          <p:nvPr/>
        </p:nvSpPr>
        <p:spPr>
          <a:xfrm rot="0">
            <a:off x="452755" y="727710"/>
            <a:ext cx="6163945" cy="27495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>
              <a:buFontTx/>
              <a:buNone/>
            </a:pPr>
            <a:r>
              <a:rPr lang="en-US" sz="1100" b="1">
                <a:solidFill>
                  <a:srgbClr val="9B72CF"/>
                </a:solidFill>
                <a:latin typeface="Courier New" charset="0"/>
                <a:ea typeface="Courier New" charset="0"/>
                <a:cs typeface="Courier New" charset="0"/>
              </a:rPr>
              <a:t>js/product_interactions.js</a:t>
            </a:r>
            <a:endParaRPr lang="ko-KR" altLang="en-US" sz="1100" b="1">
              <a:solidFill>
                <a:srgbClr val="9B72CF"/>
              </a:solidFill>
              <a:latin typeface="Courier New" charset="0"/>
              <a:ea typeface="Courier New" charset="0"/>
              <a:cs typeface="Courier New" charset="0"/>
            </a:endParaRPr>
          </a:p>
        </p:txBody>
      </p:sp>
      <p:sp>
        <p:nvSpPr>
          <p:cNvPr id="20" name="dot0"/>
          <p:cNvSpPr/>
          <p:nvPr/>
        </p:nvSpPr>
        <p:spPr>
          <a:xfrm>
            <a:off x="7150735" y="1024255"/>
            <a:ext cx="328930" cy="328930"/>
          </a:xfrm>
          <a:prstGeom prst="ellipse">
            <a:avLst/>
          </a:prstGeom>
          <a:solidFill>
            <a:srgbClr val="006838"/>
          </a:solidFill>
          <a:ln w="12700">
            <a:solidFill>
              <a:srgbClr val="006838"/>
            </a:solidFill>
            <a:prstDash val="solid"/>
          </a:ln>
        </p:spPr>
      </p:sp>
      <p:sp>
        <p:nvSpPr>
          <p:cNvPr id="21" name="dotnum0"/>
          <p:cNvSpPr/>
          <p:nvPr/>
        </p:nvSpPr>
        <p:spPr>
          <a:xfrm>
            <a:off x="7150735" y="1024255"/>
            <a:ext cx="328930" cy="3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</a:p>
        </p:txBody>
      </p:sp>
      <p:sp>
        <p:nvSpPr>
          <p:cNvPr id="22" name="point_label0"/>
          <p:cNvSpPr/>
          <p:nvPr/>
        </p:nvSpPr>
        <p:spPr>
          <a:xfrm>
            <a:off x="7571105" y="1042670"/>
            <a:ext cx="4260850" cy="255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매칭 &amp; 스크롤</a:t>
            </a:r>
          </a:p>
        </p:txBody>
      </p:sp>
      <p:sp>
        <p:nvSpPr>
          <p:cNvPr id="23" name="point_desc0"/>
          <p:cNvSpPr/>
          <p:nvPr/>
        </p:nvSpPr>
        <p:spPr>
          <a:xfrm>
            <a:off x="7571105" y="1334770"/>
            <a:ext cx="4260850" cy="475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상품명과 키워드 매칭 후 첫 결과 카드로 자동 스크롤, 해당 카드 강조 표시</a:t>
            </a:r>
          </a:p>
        </p:txBody>
      </p:sp>
      <p:sp>
        <p:nvSpPr>
          <p:cNvPr id="24" name="divline0"/>
          <p:cNvSpPr/>
          <p:nvPr/>
        </p:nvSpPr>
        <p:spPr>
          <a:xfrm>
            <a:off x="7242175" y="2448560"/>
            <a:ext cx="4572000" cy="0"/>
          </a:xfrm>
          <a:prstGeom prst="line">
            <a:avLst/>
          </a:prstGeom>
          <a:noFill/>
          <a:ln w="10160">
            <a:solidFill>
              <a:srgbClr val="E0E0E0"/>
            </a:solidFill>
            <a:prstDash val="solid"/>
          </a:ln>
        </p:spPr>
      </p:sp>
      <p:sp>
        <p:nvSpPr>
          <p:cNvPr id="25" name="dot1"/>
          <p:cNvSpPr/>
          <p:nvPr/>
        </p:nvSpPr>
        <p:spPr>
          <a:xfrm>
            <a:off x="7150735" y="2560320"/>
            <a:ext cx="328930" cy="328930"/>
          </a:xfrm>
          <a:prstGeom prst="ellipse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26" name="dotnum1"/>
          <p:cNvSpPr/>
          <p:nvPr/>
        </p:nvSpPr>
        <p:spPr>
          <a:xfrm>
            <a:off x="7150735" y="2560320"/>
            <a:ext cx="328930" cy="3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</a:p>
        </p:txBody>
      </p:sp>
      <p:sp>
        <p:nvSpPr>
          <p:cNvPr id="27" name="point_label1"/>
          <p:cNvSpPr/>
          <p:nvPr/>
        </p:nvSpPr>
        <p:spPr>
          <a:xfrm>
            <a:off x="7571105" y="2578735"/>
            <a:ext cx="4260850" cy="255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탭 active 전환</a:t>
            </a:r>
          </a:p>
        </p:txBody>
      </p:sp>
      <p:sp>
        <p:nvSpPr>
          <p:cNvPr id="28" name="point_desc1"/>
          <p:cNvSpPr/>
          <p:nvPr/>
        </p:nvSpPr>
        <p:spPr>
          <a:xfrm>
            <a:off x="7571105" y="2871470"/>
            <a:ext cx="4260850" cy="475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탭 클릭 시 active 클래스 교체로 선택 상태를 시각적으로 피드백</a:t>
            </a:r>
          </a:p>
        </p:txBody>
      </p:sp>
      <p:sp>
        <p:nvSpPr>
          <p:cNvPr id="29" name="divline1"/>
          <p:cNvSpPr/>
          <p:nvPr/>
        </p:nvSpPr>
        <p:spPr>
          <a:xfrm>
            <a:off x="7242175" y="3984625"/>
            <a:ext cx="4572000" cy="0"/>
          </a:xfrm>
          <a:prstGeom prst="line">
            <a:avLst/>
          </a:prstGeom>
          <a:noFill/>
          <a:ln w="10160">
            <a:solidFill>
              <a:srgbClr val="E0E0E0"/>
            </a:solidFill>
            <a:prstDash val="solid"/>
          </a:ln>
        </p:spPr>
      </p:sp>
      <p:sp>
        <p:nvSpPr>
          <p:cNvPr id="30" name="dot2"/>
          <p:cNvSpPr/>
          <p:nvPr/>
        </p:nvSpPr>
        <p:spPr>
          <a:xfrm>
            <a:off x="7150735" y="4096385"/>
            <a:ext cx="328930" cy="328930"/>
          </a:xfrm>
          <a:prstGeom prst="ellipse">
            <a:avLst/>
          </a:prstGeom>
          <a:solidFill>
            <a:srgbClr val="006838"/>
          </a:solidFill>
          <a:ln w="12700">
            <a:solidFill>
              <a:srgbClr val="006838"/>
            </a:solidFill>
            <a:prstDash val="solid"/>
          </a:ln>
        </p:spPr>
      </p:sp>
      <p:sp>
        <p:nvSpPr>
          <p:cNvPr id="31" name="dotnum2"/>
          <p:cNvSpPr/>
          <p:nvPr/>
        </p:nvSpPr>
        <p:spPr>
          <a:xfrm>
            <a:off x="7150735" y="4096385"/>
            <a:ext cx="328930" cy="3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</a:p>
        </p:txBody>
      </p:sp>
      <p:sp>
        <p:nvSpPr>
          <p:cNvPr id="32" name="point_label2"/>
          <p:cNvSpPr/>
          <p:nvPr/>
        </p:nvSpPr>
        <p:spPr>
          <a:xfrm>
            <a:off x="7571105" y="4114800"/>
            <a:ext cx="4260850" cy="255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헤더 버튼 토스트</a:t>
            </a:r>
          </a:p>
        </p:txBody>
      </p:sp>
      <p:sp>
        <p:nvSpPr>
          <p:cNvPr id="33" name="point_desc2"/>
          <p:cNvSpPr/>
          <p:nvPr/>
        </p:nvSpPr>
        <p:spPr>
          <a:xfrm>
            <a:off x="7571105" y="4407535"/>
            <a:ext cx="4260850" cy="475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로그인·장바구니·구매 버튼에 시연용 토스트 메시지 제공</a:t>
            </a:r>
          </a:p>
        </p:txBody>
      </p:sp>
      <p:sp>
        <p:nvSpPr>
          <p:cNvPr id="34" name="도형 16"/>
          <p:cNvSpPr>
            <a:spLocks/>
          </p:cNvSpPr>
          <p:nvPr/>
        </p:nvSpPr>
        <p:spPr>
          <a:xfrm rot="0">
            <a:off x="280035" y="3583940"/>
            <a:ext cx="6675755" cy="1246505"/>
          </a:xfrm>
          <a:prstGeom prst="roundRect">
            <a:avLst>
              <a:gd name="adj" fmla="val 1961"/>
            </a:avLst>
          </a:prstGeom>
          <a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0" t="0" r="0" b="0"/>
            </a:stretch>
          </a:blipFill>
          <a:ln w="12700" cap="flat" cmpd="sng">
            <a:solidFill>
              <a:srgbClr val="263350">
                <a:alpha val="100000"/>
              </a:srgbClr>
            </a:solidFill>
            <a:prstDash val="solid"/>
          </a:ln>
          <a:effectLst>
            <a:outerShdw sx="100000" sy="100000" blurRad="76200" dist="25400" dir="2700000" rotWithShape="0" algn="bl">
              <a:srgbClr val="000000">
                <a:alpha val="6666"/>
              </a:srgbClr>
            </a:outerShdw>
          </a:effectLst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35" name="도형 21"/>
          <p:cNvSpPr>
            <a:spLocks/>
          </p:cNvSpPr>
          <p:nvPr/>
        </p:nvSpPr>
        <p:spPr>
          <a:xfrm rot="0">
            <a:off x="274320" y="4521200"/>
            <a:ext cx="6675755" cy="2272030"/>
          </a:xfrm>
          <a:prstGeom prst="roundRect">
            <a:avLst>
              <a:gd name="adj" fmla="val 1961"/>
            </a:avLst>
          </a:prstGeom>
          <a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0" t="0" r="0" b="0"/>
            </a:stretch>
          </a:blipFill>
          <a:ln w="12700" cap="flat" cmpd="sng">
            <a:solidFill>
              <a:srgbClr val="263350">
                <a:alpha val="100000"/>
              </a:srgbClr>
            </a:solidFill>
            <a:prstDash val="solid"/>
          </a:ln>
          <a:effectLst>
            <a:outerShdw sx="100000" sy="100000" blurRad="76200" dist="25400" dir="2700000" rotWithShape="0" algn="bl">
              <a:srgbClr val="000000">
                <a:alpha val="6666"/>
              </a:srgbClr>
            </a:outerShdw>
          </a:effectLst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01295"/>
            <a:ext cx="10515600" cy="475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Code Decision 06  —  반응형 레이아웃 보정</a:t>
            </a:r>
          </a:p>
        </p:txBody>
      </p:sp>
      <p:sp>
        <p:nvSpPr>
          <p:cNvPr id="3" name="Shape line"/>
          <p:cNvSpPr/>
          <p:nvPr/>
        </p:nvSpPr>
        <p:spPr>
          <a:xfrm>
            <a:off x="274320" y="713105"/>
            <a:ext cx="11612880" cy="0"/>
          </a:xfrm>
          <a:prstGeom prst="line">
            <a:avLst/>
          </a:prstGeom>
          <a:noFill/>
          <a:ln w="15240">
            <a:solidFill>
              <a:srgbClr val="C8DDD0"/>
            </a:solidFill>
            <a:prstDash val="solid"/>
          </a:ln>
        </p:spPr>
      </p:sp>
      <p:sp>
        <p:nvSpPr>
          <p:cNvPr id="4" name="Text pagenum"/>
          <p:cNvSpPr/>
          <p:nvPr/>
        </p:nvSpPr>
        <p:spPr>
          <a:xfrm>
            <a:off x="11292840" y="137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8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</a:p>
        </p:txBody>
      </p:sp>
      <p:sp>
        <p:nvSpPr>
          <p:cNvPr id="5" name="codebox"/>
          <p:cNvSpPr>
            <a:spLocks/>
          </p:cNvSpPr>
          <p:nvPr/>
        </p:nvSpPr>
        <p:spPr>
          <a:xfrm rot="0">
            <a:off x="274320" y="1002030"/>
            <a:ext cx="3343275" cy="5596890"/>
          </a:xfrm>
          <a:prstGeom prst="roundRect">
            <a:avLst>
              <a:gd name="adj" fmla="val 1961"/>
            </a:avLst>
          </a:prstGeom>
          <a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0" t="0" r="0" b="0"/>
            </a:stretch>
          </a:blipFill>
          <a:ln w="12700" cap="flat" cmpd="sng">
            <a:solidFill>
              <a:srgbClr val="263350">
                <a:alpha val="100000"/>
              </a:srgbClr>
            </a:solidFill>
            <a:prstDash val="solid"/>
          </a:ln>
          <a:effectLst>
            <a:outerShdw sx="100000" sy="100000" blurRad="76200" dist="25400" dir="2700000" rotWithShape="0" algn="bl">
              <a:srgbClr val="000000">
                <a:alpha val="6666"/>
              </a:srgbClr>
            </a:outerShdw>
          </a:effectLst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  <p:sp>
        <p:nvSpPr>
          <p:cNvPr id="6" name="filelabel"/>
          <p:cNvSpPr>
            <a:spLocks/>
          </p:cNvSpPr>
          <p:nvPr/>
        </p:nvSpPr>
        <p:spPr>
          <a:xfrm rot="0">
            <a:off x="464185" y="749935"/>
            <a:ext cx="6163945" cy="274955"/>
          </a:xfrm>
          <a:prstGeom prst="rect"/>
          <a:noFill/>
          <a:ln cap="flat" cmpd="sng">
            <a:prstDash/>
          </a:ln>
        </p:spPr>
        <p:txBody>
          <a:bodyPr wrap="square" lIns="0" tIns="0" rIns="0" bIns="0" numCol="1" vert="horz" anchor="ctr">
            <a:noAutofit/>
          </a:bodyPr>
          <a:lstStyle/>
          <a:p>
            <a:pPr marL="0" indent="0">
              <a:buFontTx/>
              <a:buNone/>
            </a:pPr>
            <a:r>
              <a:rPr lang="en-US" sz="1100" b="1">
                <a:solidFill>
                  <a:srgbClr val="9B72CF"/>
                </a:solidFill>
                <a:latin typeface="Courier New" charset="0"/>
                <a:ea typeface="Courier New" charset="0"/>
                <a:cs typeface="Courier New" charset="0"/>
              </a:rPr>
              <a:t>css/layout.css</a:t>
            </a:r>
            <a:endParaRPr lang="ko-KR" altLang="en-US" sz="1100" b="1">
              <a:solidFill>
                <a:srgbClr val="9B72CF"/>
              </a:solidFill>
              <a:latin typeface="Courier New" charset="0"/>
              <a:ea typeface="Courier New" charset="0"/>
              <a:cs typeface="Courier New" charset="0"/>
            </a:endParaRPr>
          </a:p>
        </p:txBody>
      </p:sp>
      <p:sp>
        <p:nvSpPr>
          <p:cNvPr id="20" name="dot0"/>
          <p:cNvSpPr/>
          <p:nvPr/>
        </p:nvSpPr>
        <p:spPr>
          <a:xfrm>
            <a:off x="7150735" y="1024255"/>
            <a:ext cx="328930" cy="328930"/>
          </a:xfrm>
          <a:prstGeom prst="ellipse">
            <a:avLst/>
          </a:prstGeom>
          <a:solidFill>
            <a:srgbClr val="006838"/>
          </a:solidFill>
          <a:ln w="12700">
            <a:solidFill>
              <a:srgbClr val="006838"/>
            </a:solidFill>
            <a:prstDash val="solid"/>
          </a:ln>
        </p:spPr>
      </p:sp>
      <p:sp>
        <p:nvSpPr>
          <p:cNvPr id="21" name="dotnum0"/>
          <p:cNvSpPr/>
          <p:nvPr/>
        </p:nvSpPr>
        <p:spPr>
          <a:xfrm>
            <a:off x="7150735" y="1024255"/>
            <a:ext cx="328930" cy="3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</a:p>
        </p:txBody>
      </p:sp>
      <p:sp>
        <p:nvSpPr>
          <p:cNvPr id="22" name="point_label0"/>
          <p:cNvSpPr/>
          <p:nvPr/>
        </p:nvSpPr>
        <p:spPr>
          <a:xfrm>
            <a:off x="7571105" y="1042670"/>
            <a:ext cx="4260850" cy="255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CSS 선언 순서 수정</a:t>
            </a:r>
          </a:p>
        </p:txBody>
      </p:sp>
      <p:sp>
        <p:nvSpPr>
          <p:cNvPr id="23" name="point_desc0"/>
          <p:cNvSpPr/>
          <p:nvPr/>
        </p:nvSpPr>
        <p:spPr>
          <a:xfrm>
            <a:off x="7571105" y="1334770"/>
            <a:ext cx="4260850" cy="475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.inner 기본 선언이 미디어쿼리 아래 있어 반응형이 덮이는 버그 발견 후 선언 위치를 이동</a:t>
            </a:r>
          </a:p>
        </p:txBody>
      </p:sp>
      <p:sp>
        <p:nvSpPr>
          <p:cNvPr id="24" name="divline0"/>
          <p:cNvSpPr/>
          <p:nvPr/>
        </p:nvSpPr>
        <p:spPr>
          <a:xfrm>
            <a:off x="7242175" y="2448560"/>
            <a:ext cx="4572000" cy="0"/>
          </a:xfrm>
          <a:prstGeom prst="line">
            <a:avLst/>
          </a:prstGeom>
          <a:noFill/>
          <a:ln w="10160">
            <a:solidFill>
              <a:srgbClr val="E0E0E0"/>
            </a:solidFill>
            <a:prstDash val="solid"/>
          </a:ln>
        </p:spPr>
      </p:sp>
      <p:sp>
        <p:nvSpPr>
          <p:cNvPr id="25" name="dot1"/>
          <p:cNvSpPr/>
          <p:nvPr/>
        </p:nvSpPr>
        <p:spPr>
          <a:xfrm>
            <a:off x="7150735" y="2560320"/>
            <a:ext cx="328930" cy="328930"/>
          </a:xfrm>
          <a:prstGeom prst="ellipse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26" name="dotnum1"/>
          <p:cNvSpPr/>
          <p:nvPr/>
        </p:nvSpPr>
        <p:spPr>
          <a:xfrm>
            <a:off x="7150735" y="2560320"/>
            <a:ext cx="328930" cy="3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</a:p>
        </p:txBody>
      </p:sp>
      <p:sp>
        <p:nvSpPr>
          <p:cNvPr id="27" name="point_label1"/>
          <p:cNvSpPr/>
          <p:nvPr/>
        </p:nvSpPr>
        <p:spPr>
          <a:xfrm>
            <a:off x="7571105" y="2578735"/>
            <a:ext cx="4260850" cy="255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카드 열 수 전환</a:t>
            </a:r>
          </a:p>
        </p:txBody>
      </p:sp>
      <p:sp>
        <p:nvSpPr>
          <p:cNvPr id="28" name="point_desc1"/>
          <p:cNvSpPr/>
          <p:nvPr/>
        </p:nvSpPr>
        <p:spPr>
          <a:xfrm>
            <a:off x="7571105" y="2871470"/>
            <a:ext cx="4260850" cy="475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1024px/768px 기준으로 2열→1열 자동 전환, calc()로 정확한 너비 계산</a:t>
            </a:r>
          </a:p>
        </p:txBody>
      </p:sp>
      <p:sp>
        <p:nvSpPr>
          <p:cNvPr id="29" name="divline1"/>
          <p:cNvSpPr/>
          <p:nvPr/>
        </p:nvSpPr>
        <p:spPr>
          <a:xfrm>
            <a:off x="7242175" y="3984625"/>
            <a:ext cx="4572000" cy="0"/>
          </a:xfrm>
          <a:prstGeom prst="line">
            <a:avLst/>
          </a:prstGeom>
          <a:noFill/>
          <a:ln w="10160">
            <a:solidFill>
              <a:srgbClr val="E0E0E0"/>
            </a:solidFill>
            <a:prstDash val="solid"/>
          </a:ln>
        </p:spPr>
      </p:sp>
      <p:sp>
        <p:nvSpPr>
          <p:cNvPr id="30" name="dot2"/>
          <p:cNvSpPr/>
          <p:nvPr/>
        </p:nvSpPr>
        <p:spPr>
          <a:xfrm>
            <a:off x="7150735" y="4096385"/>
            <a:ext cx="328930" cy="328930"/>
          </a:xfrm>
          <a:prstGeom prst="ellipse">
            <a:avLst/>
          </a:prstGeom>
          <a:solidFill>
            <a:srgbClr val="006838"/>
          </a:solidFill>
          <a:ln w="12700">
            <a:solidFill>
              <a:srgbClr val="006838"/>
            </a:solidFill>
            <a:prstDash val="solid"/>
          </a:ln>
        </p:spPr>
      </p:sp>
      <p:sp>
        <p:nvSpPr>
          <p:cNvPr id="31" name="dotnum2"/>
          <p:cNvSpPr/>
          <p:nvPr/>
        </p:nvSpPr>
        <p:spPr>
          <a:xfrm>
            <a:off x="7150735" y="4096385"/>
            <a:ext cx="328930" cy="328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</a:p>
        </p:txBody>
      </p:sp>
      <p:sp>
        <p:nvSpPr>
          <p:cNvPr id="32" name="point_label2"/>
          <p:cNvSpPr/>
          <p:nvPr/>
        </p:nvSpPr>
        <p:spPr>
          <a:xfrm>
            <a:off x="7571105" y="4114800"/>
            <a:ext cx="4260850" cy="255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레이아웃 안정화</a:t>
            </a:r>
          </a:p>
        </p:txBody>
      </p:sp>
      <p:sp>
        <p:nvSpPr>
          <p:cNvPr id="33" name="point_desc2"/>
          <p:cNvSpPr/>
          <p:nvPr/>
        </p:nvSpPr>
        <p:spPr>
          <a:xfrm>
            <a:off x="7571105" y="4407535"/>
            <a:ext cx="4260850" cy="475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padding 보정으로 가로 스크롤·레이아웃 깨짐 제거</a:t>
            </a:r>
          </a:p>
        </p:txBody>
      </p:sp>
      <p:sp>
        <p:nvSpPr>
          <p:cNvPr id="34" name="도형 19"/>
          <p:cNvSpPr>
            <a:spLocks/>
          </p:cNvSpPr>
          <p:nvPr/>
        </p:nvSpPr>
        <p:spPr>
          <a:xfrm rot="0">
            <a:off x="3639185" y="1007745"/>
            <a:ext cx="3474085" cy="5596890"/>
          </a:xfrm>
          <a:prstGeom prst="roundRect">
            <a:avLst>
              <a:gd name="adj" fmla="val 1961"/>
            </a:avLst>
          </a:prstGeom>
          <a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 l="0" t="0" r="0" b="0"/>
            </a:stretch>
          </a:blipFill>
          <a:ln w="12700" cap="flat" cmpd="sng">
            <a:solidFill>
              <a:srgbClr val="263350">
                <a:alpha val="100000"/>
              </a:srgbClr>
            </a:solidFill>
            <a:prstDash val="solid"/>
          </a:ln>
          <a:effectLst>
            <a:outerShdw sx="100000" sy="100000" blurRad="76200" dist="25400" dir="2700000" rotWithShape="0" algn="bl">
              <a:srgbClr val="000000">
                <a:alpha val="6666"/>
              </a:srgbClr>
            </a:outerShdw>
          </a:effectLst>
        </p:spPr>
        <p:txBody>
          <a:bodyPr wrap="square" lIns="0" tIns="0" rIns="0" bIns="0" vert="horz" anchor="t">
            <a:noAutofit/>
          </a:bodyPr>
          <a:lstStyle/>
          <a:p>
            <a:pPr marL="0" indent="0"/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01168"/>
            <a:ext cx="10515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Pages  /  배포 대응</a:t>
            </a:r>
          </a:p>
        </p:txBody>
      </p:sp>
      <p:sp>
        <p:nvSpPr>
          <p:cNvPr id="25" name="Text subtitle"/>
          <p:cNvSpPr/>
          <p:nvPr/>
        </p:nvSpPr>
        <p:spPr>
          <a:xfrm>
            <a:off x="274320" y="621792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 프로젝트를 GitHub에 연결하고 실제 URL로 배포</a:t>
            </a:r>
          </a:p>
        </p:txBody>
      </p:sp>
      <p:sp>
        <p:nvSpPr>
          <p:cNvPr id="3" name="Shape line"/>
          <p:cNvSpPr/>
          <p:nvPr/>
        </p:nvSpPr>
        <p:spPr>
          <a:xfrm>
            <a:off x="274320" y="896112"/>
            <a:ext cx="11612880" cy="0"/>
          </a:xfrm>
          <a:prstGeom prst="line">
            <a:avLst/>
          </a:prstGeom>
          <a:noFill/>
          <a:ln w="15240">
            <a:solidFill>
              <a:srgbClr val="C8DDD0"/>
            </a:solidFill>
            <a:prstDash val="solid"/>
          </a:ln>
        </p:spPr>
      </p:sp>
      <p:sp>
        <p:nvSpPr>
          <p:cNvPr id="4" name="Text pagenum"/>
          <p:cNvSpPr/>
          <p:nvPr/>
        </p:nvSpPr>
        <p:spPr>
          <a:xfrm>
            <a:off x="11292840" y="137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8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</a:p>
        </p:txBody>
      </p:sp>
      <p:sp>
        <p:nvSpPr>
          <p:cNvPr id="10" name="card_bg_10"/>
          <p:cNvSpPr/>
          <p:nvPr/>
        </p:nvSpPr>
        <p:spPr>
          <a:xfrm>
            <a:off x="274320" y="1097280"/>
            <a:ext cx="3657600" cy="2743200"/>
          </a:xfrm>
          <a:prstGeom prst="roundRect">
            <a:avLst>
              <a:gd name="adj" fmla="val 4000"/>
            </a:avLst>
          </a:prstGeom>
          <a:solidFill>
            <a:srgbClr val="F0F9F4"/>
          </a:solidFill>
          <a:ln w="12700">
            <a:solidFill>
              <a:srgbClr val="B9D8C6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5000"/>
              </a:srgbClr>
            </a:outerShdw>
          </a:effectLst>
        </p:spPr>
      </p:sp>
      <p:sp>
        <p:nvSpPr>
          <p:cNvPr id="11" name="card_num_10"/>
          <p:cNvSpPr/>
          <p:nvPr/>
        </p:nvSpPr>
        <p:spPr>
          <a:xfrm>
            <a:off x="457200" y="1280160"/>
            <a:ext cx="457200" cy="457200"/>
          </a:xfrm>
          <a:prstGeom prst="ellipse">
            <a:avLst/>
          </a:prstGeom>
          <a:solidFill>
            <a:srgbClr val="006838"/>
          </a:solidFill>
          <a:ln w="0">
            <a:noFill/>
          </a:ln>
        </p:spPr>
      </p:sp>
      <p:sp>
        <p:nvSpPr>
          <p:cNvPr id="12" name="card_num_text_10"/>
          <p:cNvSpPr/>
          <p:nvPr/>
        </p:nvSpPr>
        <p:spPr>
          <a:xfrm>
            <a:off x="45720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</a:p>
        </p:txBody>
      </p:sp>
      <p:sp>
        <p:nvSpPr>
          <p:cNvPr id="13" name="card_label_10"/>
          <p:cNvSpPr/>
          <p:nvPr/>
        </p:nvSpPr>
        <p:spPr>
          <a:xfrm>
            <a:off x="1004760" y="1298448"/>
            <a:ext cx="2835720" cy="31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D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 저장소 초기화</a:t>
            </a:r>
          </a:p>
        </p:txBody>
      </p:sp>
      <p:sp>
        <p:nvSpPr>
          <p:cNvPr id="14" name="card_desc_10"/>
          <p:cNvSpPr/>
          <p:nvPr/>
        </p:nvSpPr>
        <p:spPr>
          <a:xfrm>
            <a:off x="457200" y="1827720"/>
            <a:ext cx="3291840" cy="1921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다운로드 폴더를 Git 저장소로 초기화</a:t>
            </a:r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origin/main 기준으로 변경분만 커밋</a:t>
            </a:r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커밋 메시지: Add portfolio interactions</a:t>
            </a:r>
          </a:p>
        </p:txBody>
      </p:sp>
      <p:sp>
        <p:nvSpPr>
          <p:cNvPr id="20" name="card_bg_20"/>
          <p:cNvSpPr/>
          <p:nvPr/>
        </p:nvSpPr>
        <p:spPr>
          <a:xfrm>
            <a:off x="4206240" y="1097280"/>
            <a:ext cx="3657600" cy="2743200"/>
          </a:xfrm>
          <a:prstGeom prst="roundRect">
            <a:avLst>
              <a:gd name="adj" fmla="val 4000"/>
            </a:avLst>
          </a:prstGeom>
          <a:solidFill>
            <a:srgbClr val="F0F9F4"/>
          </a:solidFill>
          <a:ln w="12700">
            <a:solidFill>
              <a:srgbClr val="B9D8C6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5000"/>
              </a:srgbClr>
            </a:outerShdw>
          </a:effectLst>
        </p:spPr>
      </p:sp>
      <p:sp>
        <p:nvSpPr>
          <p:cNvPr id="21" name="card_num_20"/>
          <p:cNvSpPr/>
          <p:nvPr/>
        </p:nvSpPr>
        <p:spPr>
          <a:xfrm>
            <a:off x="4389120" y="1280160"/>
            <a:ext cx="457200" cy="457200"/>
          </a:xfrm>
          <a:prstGeom prst="ellipse">
            <a:avLst/>
          </a:prstGeom>
          <a:solidFill>
            <a:srgbClr val="006838"/>
          </a:solidFill>
          <a:ln w="0">
            <a:noFill/>
          </a:ln>
        </p:spPr>
      </p:sp>
      <p:sp>
        <p:nvSpPr>
          <p:cNvPr id="22" name="card_num_text_20"/>
          <p:cNvSpPr/>
          <p:nvPr/>
        </p:nvSpPr>
        <p:spPr>
          <a:xfrm>
            <a:off x="438912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</a:p>
        </p:txBody>
      </p:sp>
      <p:sp>
        <p:nvSpPr>
          <p:cNvPr id="23" name="card_label_20"/>
          <p:cNvSpPr/>
          <p:nvPr/>
        </p:nvSpPr>
        <p:spPr>
          <a:xfrm>
            <a:off x="4936680" y="1298448"/>
            <a:ext cx="2835720" cy="31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D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Pages 설정</a:t>
            </a:r>
          </a:p>
        </p:txBody>
      </p:sp>
      <p:sp>
        <p:nvSpPr>
          <p:cNvPr id="24" name="card_desc_20"/>
          <p:cNvSpPr/>
          <p:nvPr/>
        </p:nvSpPr>
        <p:spPr>
          <a:xfrm>
            <a:off x="4389120" y="1827720"/>
            <a:ext cx="3291840" cy="1921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Settings → Pages → Source: main</a:t>
            </a:r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 웹 프로젝트로 즉시 배포 가능</a:t>
            </a:r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Live Server(로컬)와 배포 URL 구분</a:t>
            </a:r>
          </a:p>
        </p:txBody>
      </p:sp>
      <p:sp>
        <p:nvSpPr>
          <p:cNvPr id="30" name="card_bg_30"/>
          <p:cNvSpPr/>
          <p:nvPr/>
        </p:nvSpPr>
        <p:spPr>
          <a:xfrm>
            <a:off x="8138160" y="1097280"/>
            <a:ext cx="3657600" cy="2743200"/>
          </a:xfrm>
          <a:prstGeom prst="roundRect">
            <a:avLst>
              <a:gd name="adj" fmla="val 4000"/>
            </a:avLst>
          </a:prstGeom>
          <a:solidFill>
            <a:srgbClr val="F0F9F4"/>
          </a:solidFill>
          <a:ln w="12700">
            <a:solidFill>
              <a:srgbClr val="B9D8C6"/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5000"/>
              </a:srgbClr>
            </a:outerShdw>
          </a:effectLst>
        </p:spPr>
      </p:sp>
      <p:sp>
        <p:nvSpPr>
          <p:cNvPr id="31" name="card_num_30"/>
          <p:cNvSpPr/>
          <p:nvPr/>
        </p:nvSpPr>
        <p:spPr>
          <a:xfrm>
            <a:off x="8321040" y="1280160"/>
            <a:ext cx="457200" cy="457200"/>
          </a:xfrm>
          <a:prstGeom prst="ellipse">
            <a:avLst/>
          </a:prstGeom>
          <a:solidFill>
            <a:srgbClr val="006838"/>
          </a:solidFill>
          <a:ln w="0">
            <a:noFill/>
          </a:ln>
        </p:spPr>
      </p:sp>
      <p:sp>
        <p:nvSpPr>
          <p:cNvPr id="32" name="card_num_text_30"/>
          <p:cNvSpPr/>
          <p:nvPr/>
        </p:nvSpPr>
        <p:spPr>
          <a:xfrm>
            <a:off x="832104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</a:p>
        </p:txBody>
      </p:sp>
      <p:sp>
        <p:nvSpPr>
          <p:cNvPr id="33" name="card_label_30"/>
          <p:cNvSpPr/>
          <p:nvPr/>
        </p:nvSpPr>
        <p:spPr>
          <a:xfrm>
            <a:off x="8868600" y="1298448"/>
            <a:ext cx="2835720" cy="31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D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확인</a:t>
            </a:r>
          </a:p>
        </p:txBody>
      </p:sp>
      <p:sp>
        <p:nvSpPr>
          <p:cNvPr id="34" name="card_desc_30"/>
          <p:cNvSpPr/>
          <p:nvPr/>
        </p:nvSpPr>
        <p:spPr>
          <a:xfrm>
            <a:off x="8321040" y="1827720"/>
            <a:ext cx="3291840" cy="1921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ebj0925-cyber.github.io/0311_2</a:t>
            </a:r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브라우저에서 전체 기능 검증</a:t>
            </a:r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Pages에서 JSON fetch 정상 동작 확인</a:t>
            </a:r>
          </a:p>
        </p:txBody>
      </p:sp>
      <p:sp>
        <p:nvSpPr>
          <p:cNvPr id="50" name="msg_box"/>
          <p:cNvSpPr/>
          <p:nvPr/>
        </p:nvSpPr>
        <p:spPr>
          <a:xfrm>
            <a:off x="274320" y="4205088"/>
            <a:ext cx="11612880" cy="548640"/>
          </a:xfrm>
          <a:prstGeom prst="roundRect">
            <a:avLst>
              <a:gd name="adj" fmla="val 3000"/>
            </a:avLst>
          </a:prstGeom>
          <a:solidFill>
            <a:srgbClr val="F0F9F4"/>
          </a:solidFill>
          <a:ln w="0">
            <a:noFill/>
          </a:ln>
        </p:spPr>
      </p:sp>
      <p:sp>
        <p:nvSpPr>
          <p:cNvPr id="51" name="msg_text"/>
          <p:cNvSpPr/>
          <p:nvPr/>
        </p:nvSpPr>
        <p:spPr>
          <a:xfrm>
            <a:off x="274320" y="4205088"/>
            <a:ext cx="1161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68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 HTML/CSS/JS 프로젝트를 GitHub Pages로 배포해 실제 URL에서 동작하는 포트폴리오로 완성했습니다.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01168"/>
            <a:ext cx="10515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12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예정</a:t>
            </a:r>
          </a:p>
        </p:txBody>
      </p:sp>
      <p:sp>
        <p:nvSpPr>
          <p:cNvPr id="25" name="Text subtitle"/>
          <p:cNvSpPr/>
          <p:nvPr/>
        </p:nvSpPr>
        <p:spPr>
          <a:xfrm>
            <a:off x="274320" y="621792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프로젝트에서 다음으로 발전시킬 6가지 방향</a:t>
            </a:r>
          </a:p>
        </p:txBody>
      </p:sp>
      <p:sp>
        <p:nvSpPr>
          <p:cNvPr id="3" name="Shape line"/>
          <p:cNvSpPr/>
          <p:nvPr/>
        </p:nvSpPr>
        <p:spPr>
          <a:xfrm>
            <a:off x="274320" y="896112"/>
            <a:ext cx="11612880" cy="0"/>
          </a:xfrm>
          <a:prstGeom prst="line">
            <a:avLst/>
          </a:prstGeom>
          <a:noFill/>
          <a:ln w="15240">
            <a:solidFill>
              <a:srgbClr val="C8DDD0"/>
            </a:solidFill>
            <a:prstDash val="solid"/>
          </a:ln>
        </p:spPr>
      </p:sp>
      <p:sp>
        <p:nvSpPr>
          <p:cNvPr id="4" name="Text pagenum"/>
          <p:cNvSpPr/>
          <p:nvPr/>
        </p:nvSpPr>
        <p:spPr>
          <a:xfrm>
            <a:off x="11292840" y="137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8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</a:p>
        </p:txBody>
      </p:sp>
      <p:sp>
        <p:nvSpPr>
          <p:cNvPr id="10" name="imp_bg_10"/>
          <p:cNvSpPr/>
          <p:nvPr/>
        </p:nvSpPr>
        <p:spPr>
          <a:xfrm>
            <a:off x="274320" y="1097280"/>
            <a:ext cx="5669280" cy="1280160"/>
          </a:xfrm>
          <a:prstGeom prst="roundRect">
            <a:avLst>
              <a:gd name="adj" fmla="val 4000"/>
            </a:avLst>
          </a:prstGeom>
          <a:solidFill>
            <a:srgbClr val="F7FBF9"/>
          </a:solidFill>
          <a:ln w="12700">
            <a:solidFill>
              <a:srgbClr val="B9D8C6"/>
            </a:solidFill>
            <a:prstDash val="solid"/>
          </a:ln>
        </p:spPr>
      </p:sp>
      <p:sp>
        <p:nvSpPr>
          <p:cNvPr id="11" name="imp_dot_10"/>
          <p:cNvSpPr/>
          <p:nvPr/>
        </p:nvSpPr>
        <p:spPr>
          <a:xfrm>
            <a:off x="457200" y="1280160"/>
            <a:ext cx="365760" cy="365760"/>
          </a:xfrm>
          <a:prstGeom prst="ellipse">
            <a:avLst/>
          </a:prstGeom>
          <a:solidFill>
            <a:srgbClr val="006838"/>
          </a:solidFill>
          <a:ln w="0">
            <a:noFill/>
          </a:ln>
        </p:spPr>
      </p:sp>
      <p:sp>
        <p:nvSpPr>
          <p:cNvPr id="12" name="imp_dotnum_10"/>
          <p:cNvSpPr/>
          <p:nvPr/>
        </p:nvSpPr>
        <p:spPr>
          <a:xfrm>
            <a:off x="45720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</a:p>
        </p:txBody>
      </p:sp>
      <p:sp>
        <p:nvSpPr>
          <p:cNvPr id="13" name="imp_label_10"/>
          <p:cNvSpPr/>
          <p:nvPr/>
        </p:nvSpPr>
        <p:spPr>
          <a:xfrm>
            <a:off x="914400" y="1261872"/>
            <a:ext cx="493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4D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탭별 실제 데이터 확장</a:t>
            </a:r>
          </a:p>
        </p:txBody>
      </p:sp>
      <p:sp>
        <p:nvSpPr>
          <p:cNvPr id="14" name="imp_desc_10"/>
          <p:cNvSpPr/>
          <p:nvPr/>
        </p:nvSpPr>
        <p:spPr>
          <a:xfrm>
            <a:off x="457200" y="168148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아임리얼 등 각 브랜드 탭에 실제 상품 데이터 추가</a:t>
            </a:r>
          </a:p>
        </p:txBody>
      </p:sp>
      <p:sp>
        <p:nvSpPr>
          <p:cNvPr id="20" name="imp_bg_20"/>
          <p:cNvSpPr/>
          <p:nvPr/>
        </p:nvSpPr>
        <p:spPr>
          <a:xfrm>
            <a:off x="6217920" y="1097280"/>
            <a:ext cx="5669280" cy="1280160"/>
          </a:xfrm>
          <a:prstGeom prst="roundRect">
            <a:avLst>
              <a:gd name="adj" fmla="val 4000"/>
            </a:avLst>
          </a:prstGeom>
          <a:solidFill>
            <a:srgbClr val="F7FBF9"/>
          </a:solidFill>
          <a:ln w="12700">
            <a:solidFill>
              <a:srgbClr val="B9D8C6"/>
            </a:solidFill>
            <a:prstDash val="solid"/>
          </a:ln>
        </p:spPr>
      </p:sp>
      <p:sp>
        <p:nvSpPr>
          <p:cNvPr id="21" name="imp_dot_20"/>
          <p:cNvSpPr/>
          <p:nvPr/>
        </p:nvSpPr>
        <p:spPr>
          <a:xfrm>
            <a:off x="6400800" y="1280160"/>
            <a:ext cx="365760" cy="365760"/>
          </a:xfrm>
          <a:prstGeom prst="ellipse">
            <a:avLst/>
          </a:prstGeom>
          <a:solidFill>
            <a:srgbClr val="006838"/>
          </a:solidFill>
          <a:ln w="0">
            <a:noFill/>
          </a:ln>
        </p:spPr>
      </p:sp>
      <p:sp>
        <p:nvSpPr>
          <p:cNvPr id="22" name="imp_dotnum_20"/>
          <p:cNvSpPr/>
          <p:nvPr/>
        </p:nvSpPr>
        <p:spPr>
          <a:xfrm>
            <a:off x="640080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</a:p>
        </p:txBody>
      </p:sp>
      <p:sp>
        <p:nvSpPr>
          <p:cNvPr id="23" name="imp_label_20"/>
          <p:cNvSpPr/>
          <p:nvPr/>
        </p:nvSpPr>
        <p:spPr>
          <a:xfrm>
            <a:off x="6858000" y="1261872"/>
            <a:ext cx="493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4D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검색 결과 페이지 분리</a:t>
            </a:r>
          </a:p>
        </p:txBody>
      </p:sp>
      <p:sp>
        <p:nvSpPr>
          <p:cNvPr id="24" name="imp_desc_20"/>
          <p:cNvSpPr/>
          <p:nvPr/>
        </p:nvSpPr>
        <p:spPr>
          <a:xfrm>
            <a:off x="6400800" y="168148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결과를 별도 search.html 페이지로 분리 구성</a:t>
            </a:r>
          </a:p>
        </p:txBody>
      </p:sp>
      <p:sp>
        <p:nvSpPr>
          <p:cNvPr id="30" name="imp_bg_30"/>
          <p:cNvSpPr/>
          <p:nvPr/>
        </p:nvSpPr>
        <p:spPr>
          <a:xfrm>
            <a:off x="274320" y="2560320"/>
            <a:ext cx="5669280" cy="1280160"/>
          </a:xfrm>
          <a:prstGeom prst="roundRect">
            <a:avLst>
              <a:gd name="adj" fmla="val 4000"/>
            </a:avLst>
          </a:prstGeom>
          <a:solidFill>
            <a:srgbClr val="F7FBF9"/>
          </a:solidFill>
          <a:ln w="12700">
            <a:solidFill>
              <a:srgbClr val="B9D8C6"/>
            </a:solidFill>
            <a:prstDash val="solid"/>
          </a:ln>
        </p:spPr>
      </p:sp>
      <p:sp>
        <p:nvSpPr>
          <p:cNvPr id="31" name="imp_dot_30"/>
          <p:cNvSpPr/>
          <p:nvPr/>
        </p:nvSpPr>
        <p:spPr>
          <a:xfrm>
            <a:off x="457200" y="2743200"/>
            <a:ext cx="365760" cy="365760"/>
          </a:xfrm>
          <a:prstGeom prst="ellipse">
            <a:avLst/>
          </a:prstGeom>
          <a:solidFill>
            <a:srgbClr val="006838"/>
          </a:solidFill>
          <a:ln w="0">
            <a:noFill/>
          </a:ln>
        </p:spPr>
      </p:sp>
      <p:sp>
        <p:nvSpPr>
          <p:cNvPr id="32" name="imp_dotnum_30"/>
          <p:cNvSpPr/>
          <p:nvPr/>
        </p:nvSpPr>
        <p:spPr>
          <a:xfrm>
            <a:off x="45720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</a:p>
        </p:txBody>
      </p:sp>
      <p:sp>
        <p:nvSpPr>
          <p:cNvPr id="33" name="imp_label_30"/>
          <p:cNvSpPr/>
          <p:nvPr/>
        </p:nvSpPr>
        <p:spPr>
          <a:xfrm>
            <a:off x="914400" y="2724912"/>
            <a:ext cx="493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4D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장바구니 페이지 구현</a:t>
            </a:r>
          </a:p>
        </p:txBody>
      </p:sp>
      <p:sp>
        <p:nvSpPr>
          <p:cNvPr id="34" name="imp_desc_30"/>
          <p:cNvSpPr/>
          <p:nvPr/>
        </p:nvSpPr>
        <p:spPr>
          <a:xfrm>
            <a:off x="457200" y="314452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cart.html 페이지에서 담은 상품 목록·수량·총액 관리</a:t>
            </a:r>
          </a:p>
        </p:txBody>
      </p:sp>
      <p:sp>
        <p:nvSpPr>
          <p:cNvPr id="40" name="imp_bg_40"/>
          <p:cNvSpPr/>
          <p:nvPr/>
        </p:nvSpPr>
        <p:spPr>
          <a:xfrm>
            <a:off x="6217920" y="2560320"/>
            <a:ext cx="5669280" cy="1280160"/>
          </a:xfrm>
          <a:prstGeom prst="roundRect">
            <a:avLst>
              <a:gd name="adj" fmla="val 4000"/>
            </a:avLst>
          </a:prstGeom>
          <a:solidFill>
            <a:srgbClr val="F7FBF9"/>
          </a:solidFill>
          <a:ln w="12700">
            <a:solidFill>
              <a:srgbClr val="B9D8C6"/>
            </a:solidFill>
            <a:prstDash val="solid"/>
          </a:ln>
        </p:spPr>
      </p:sp>
      <p:sp>
        <p:nvSpPr>
          <p:cNvPr id="41" name="imp_dot_40"/>
          <p:cNvSpPr/>
          <p:nvPr/>
        </p:nvSpPr>
        <p:spPr>
          <a:xfrm>
            <a:off x="6400800" y="2743200"/>
            <a:ext cx="365760" cy="365760"/>
          </a:xfrm>
          <a:prstGeom prst="ellipse">
            <a:avLst/>
          </a:prstGeom>
          <a:solidFill>
            <a:srgbClr val="006838"/>
          </a:solidFill>
          <a:ln w="0">
            <a:noFill/>
          </a:ln>
        </p:spPr>
      </p:sp>
      <p:sp>
        <p:nvSpPr>
          <p:cNvPr id="42" name="imp_dotnum_40"/>
          <p:cNvSpPr/>
          <p:nvPr/>
        </p:nvSpPr>
        <p:spPr>
          <a:xfrm>
            <a:off x="640080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</a:p>
        </p:txBody>
      </p:sp>
      <p:sp>
        <p:nvSpPr>
          <p:cNvPr id="43" name="imp_label_40"/>
          <p:cNvSpPr/>
          <p:nvPr/>
        </p:nvSpPr>
        <p:spPr>
          <a:xfrm>
            <a:off x="6858000" y="2724912"/>
            <a:ext cx="493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4D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/ 회원가입 페이지</a:t>
            </a:r>
          </a:p>
        </p:txBody>
      </p:sp>
      <p:sp>
        <p:nvSpPr>
          <p:cNvPr id="44" name="imp_desc_40"/>
          <p:cNvSpPr/>
          <p:nvPr/>
        </p:nvSpPr>
        <p:spPr>
          <a:xfrm>
            <a:off x="6400800" y="314452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login.html + 폼 유효성 검사 JavaScript 구현</a:t>
            </a:r>
          </a:p>
        </p:txBody>
      </p:sp>
      <p:sp>
        <p:nvSpPr>
          <p:cNvPr id="50" name="imp_bg_50"/>
          <p:cNvSpPr/>
          <p:nvPr/>
        </p:nvSpPr>
        <p:spPr>
          <a:xfrm>
            <a:off x="274320" y="4023360"/>
            <a:ext cx="5669280" cy="1280160"/>
          </a:xfrm>
          <a:prstGeom prst="roundRect">
            <a:avLst>
              <a:gd name="adj" fmla="val 4000"/>
            </a:avLst>
          </a:prstGeom>
          <a:solidFill>
            <a:srgbClr val="F7FBF9"/>
          </a:solidFill>
          <a:ln w="12700">
            <a:solidFill>
              <a:srgbClr val="B9D8C6"/>
            </a:solidFill>
            <a:prstDash val="solid"/>
          </a:ln>
        </p:spPr>
      </p:sp>
      <p:sp>
        <p:nvSpPr>
          <p:cNvPr id="51" name="imp_dot_50"/>
          <p:cNvSpPr/>
          <p:nvPr/>
        </p:nvSpPr>
        <p:spPr>
          <a:xfrm>
            <a:off x="457200" y="4206240"/>
            <a:ext cx="365760" cy="365760"/>
          </a:xfrm>
          <a:prstGeom prst="ellipse">
            <a:avLst/>
          </a:prstGeom>
          <a:solidFill>
            <a:srgbClr val="006838"/>
          </a:solidFill>
          <a:ln w="0">
            <a:noFill/>
          </a:ln>
        </p:spPr>
      </p:sp>
      <p:sp>
        <p:nvSpPr>
          <p:cNvPr id="52" name="imp_dotnum_50"/>
          <p:cNvSpPr/>
          <p:nvPr/>
        </p:nvSpPr>
        <p:spPr>
          <a:xfrm>
            <a:off x="457200" y="4206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</a:p>
        </p:txBody>
      </p:sp>
      <p:sp>
        <p:nvSpPr>
          <p:cNvPr id="53" name="imp_label_50"/>
          <p:cNvSpPr/>
          <p:nvPr/>
        </p:nvSpPr>
        <p:spPr>
          <a:xfrm>
            <a:off x="914400" y="4187952"/>
            <a:ext cx="493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4D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JSON → 서버 API 전환</a:t>
            </a:r>
          </a:p>
        </p:txBody>
      </p:sp>
      <p:sp>
        <p:nvSpPr>
          <p:cNvPr id="54" name="imp_desc_50"/>
          <p:cNvSpPr/>
          <p:nvPr/>
        </p:nvSpPr>
        <p:spPr>
          <a:xfrm>
            <a:off x="457200" y="460756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fetch 대상을 실제 REST API로 교체해 동적 데이터 대응</a:t>
            </a:r>
          </a:p>
        </p:txBody>
      </p:sp>
      <p:sp>
        <p:nvSpPr>
          <p:cNvPr id="60" name="imp_bg_60"/>
          <p:cNvSpPr/>
          <p:nvPr/>
        </p:nvSpPr>
        <p:spPr>
          <a:xfrm>
            <a:off x="6217920" y="4023360"/>
            <a:ext cx="5669280" cy="1280160"/>
          </a:xfrm>
          <a:prstGeom prst="roundRect">
            <a:avLst>
              <a:gd name="adj" fmla="val 4000"/>
            </a:avLst>
          </a:prstGeom>
          <a:solidFill>
            <a:srgbClr val="F7FBF9"/>
          </a:solidFill>
          <a:ln w="12700">
            <a:solidFill>
              <a:srgbClr val="B9D8C6"/>
            </a:solidFill>
            <a:prstDash val="solid"/>
          </a:ln>
        </p:spPr>
      </p:sp>
      <p:sp>
        <p:nvSpPr>
          <p:cNvPr id="61" name="imp_dot_60"/>
          <p:cNvSpPr/>
          <p:nvPr/>
        </p:nvSpPr>
        <p:spPr>
          <a:xfrm>
            <a:off x="6400800" y="4206240"/>
            <a:ext cx="365760" cy="365760"/>
          </a:xfrm>
          <a:prstGeom prst="ellipse">
            <a:avLst/>
          </a:prstGeom>
          <a:solidFill>
            <a:srgbClr val="006838"/>
          </a:solidFill>
          <a:ln w="0">
            <a:noFill/>
          </a:ln>
        </p:spPr>
      </p:sp>
      <p:sp>
        <p:nvSpPr>
          <p:cNvPr id="62" name="imp_dotnum_60"/>
          <p:cNvSpPr/>
          <p:nvPr/>
        </p:nvSpPr>
        <p:spPr>
          <a:xfrm>
            <a:off x="6400800" y="4206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</a:p>
        </p:txBody>
      </p:sp>
      <p:sp>
        <p:nvSpPr>
          <p:cNvPr id="63" name="imp_label_60"/>
          <p:cNvSpPr/>
          <p:nvPr/>
        </p:nvSpPr>
        <p:spPr>
          <a:xfrm>
            <a:off x="6858000" y="4187952"/>
            <a:ext cx="493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4D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접근성 개선</a:t>
            </a:r>
          </a:p>
        </p:txBody>
      </p:sp>
      <p:sp>
        <p:nvSpPr>
          <p:cNvPr id="64" name="imp_desc_60"/>
          <p:cNvSpPr/>
          <p:nvPr/>
        </p:nvSpPr>
        <p:spPr>
          <a:xfrm>
            <a:off x="6400800" y="460756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button 마크업 적용, aria-label·aria-expanded 상태 고도화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28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_bar"/>
          <p:cNvSpPr/>
          <p:nvPr/>
        </p:nvSpPr>
        <p:spPr>
          <a:xfrm>
            <a:off x="3657600" y="1280160"/>
            <a:ext cx="4572000" cy="91440"/>
          </a:xfrm>
          <a:prstGeom prst="rect">
            <a:avLst/>
          </a:prstGeom>
          <a:solidFill>
            <a:srgbClr val="006838"/>
          </a:solidFill>
          <a:ln w="0">
            <a:noFill/>
          </a:ln>
        </p:spPr>
      </p:sp>
      <p:sp>
        <p:nvSpPr>
          <p:cNvPr id="3" name="title_main"/>
          <p:cNvSpPr/>
          <p:nvPr/>
        </p:nvSpPr>
        <p:spPr>
          <a:xfrm>
            <a:off x="1828800" y="1462536"/>
            <a:ext cx="8229600" cy="913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풀무원 쇼핑몰 퍼블리싱</a:t>
            </a:r>
          </a:p>
        </p:txBody>
      </p:sp>
      <p:sp>
        <p:nvSpPr>
          <p:cNvPr id="4" name="subtitle"/>
          <p:cNvSpPr/>
          <p:nvPr/>
        </p:nvSpPr>
        <p:spPr>
          <a:xfrm>
            <a:off x="1828800" y="237621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5D6A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조은정  ·  YOMNIVERSE  ·  2025.03</a:t>
            </a:r>
          </a:p>
        </p:txBody>
      </p:sp>
      <p:sp>
        <p:nvSpPr>
          <p:cNvPr id="5" name="divider"/>
          <p:cNvSpPr/>
          <p:nvPr/>
        </p:nvSpPr>
        <p:spPr>
          <a:xfrm>
            <a:off x="3657600" y="3000240"/>
            <a:ext cx="4572000" cy="0"/>
          </a:xfrm>
          <a:prstGeom prst="line">
            <a:avLst/>
          </a:prstGeom>
          <a:noFill/>
          <a:ln w="12700">
            <a:solidFill>
              <a:srgbClr val="006838"/>
            </a:solidFill>
            <a:prstDash val="solid"/>
          </a:ln>
        </p:spPr>
      </p:sp>
      <p:sp>
        <p:nvSpPr>
          <p:cNvPr id="6" name="github_label"/>
          <p:cNvSpPr/>
          <p:nvPr/>
        </p:nvSpPr>
        <p:spPr>
          <a:xfrm>
            <a:off x="1828800" y="3164400"/>
            <a:ext cx="8229600" cy="31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B72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</a:t>
            </a:r>
          </a:p>
        </p:txBody>
      </p:sp>
      <p:sp>
        <p:nvSpPr>
          <p:cNvPr id="7" name="github_url"/>
          <p:cNvSpPr/>
          <p:nvPr/>
        </p:nvSpPr>
        <p:spPr>
          <a:xfrm>
            <a:off x="1828800" y="3476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DD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ebj0925-cyber.github.io/0311_2</a:t>
            </a:r>
          </a:p>
        </p:txBody>
      </p:sp>
      <p:sp>
        <p:nvSpPr>
          <p:cNvPr id="8" name="repo_label"/>
          <p:cNvSpPr/>
          <p:nvPr/>
        </p:nvSpPr>
        <p:spPr>
          <a:xfrm>
            <a:off x="1828800" y="3932280"/>
            <a:ext cx="8229600" cy="31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B72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Repository</a:t>
            </a:r>
          </a:p>
        </p:txBody>
      </p:sp>
      <p:sp>
        <p:nvSpPr>
          <p:cNvPr id="9" name="repo_url"/>
          <p:cNvSpPr/>
          <p:nvPr/>
        </p:nvSpPr>
        <p:spPr>
          <a:xfrm>
            <a:off x="1828800" y="4244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DD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github.com/ebj0925-cyber/0311_2</a:t>
            </a:r>
          </a:p>
        </p:txBody>
      </p:sp>
      <p:sp>
        <p:nvSpPr>
          <p:cNvPr id="10" name="bottom_msg"/>
          <p:cNvSpPr/>
          <p:nvPr/>
        </p:nvSpPr>
        <p:spPr>
          <a:xfrm>
            <a:off x="274320" y="5140728"/>
            <a:ext cx="1161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575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 쇼핑몰 클론에서 끝내지 않고, JSON 렌더링 · 반응형 · 검색 · 탭 · 토스트 피드백까지 보강해 커머스 UI로 완성했습니다.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Company>PptxGenJS</Company>
  <DocSecurity>0</DocSecurity>
  <HyperlinksChanged>false</HyperlinksChanged>
  <Lines>0</Lines>
  <LinksUpToDate>false</LinksUpToDate>
  <Pages>24</Pages>
  <Paragraphs>0</Paragraphs>
  <Words>0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:creator>조은정</dc:creator>
  <cp:lastModifiedBy>Cho EunJung</cp:lastModifiedBy>
  <dc:title>풀무원 쇼핑몰 퍼블리싱 포트폴리오</dc:title>
  <dc:subject>PptxGenJS Presentation</dc:subject>
  <cp:version>10.105.306.56235</cp:version>
  <dcterms:modified xsi:type="dcterms:W3CDTF">2026-06-17T05:46:54Z</dcterms:modified>
</cp:coreProperties>
</file>